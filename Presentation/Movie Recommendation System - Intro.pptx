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Nunito" pitchFamily="2" charset="0"/>
      <p:regular r:id="rId13"/>
      <p:bold r:id="rId14"/>
      <p:italic r:id="rId15"/>
      <p:boldItalic r:id="rId16"/>
    </p:embeddedFont>
    <p:embeddedFont>
      <p:font typeface="Nunito Bold" pitchFamily="2" charset="0"/>
      <p:bold r:id="rId17"/>
    </p:embeddedFont>
    <p:embeddedFont>
      <p:font typeface="Nunito Semi Bold" panose="020B0604020202020204" charset="0"/>
      <p:regular r:id="rId18"/>
    </p:embeddedFont>
    <p:embeddedFont>
      <p:font typeface="PT Sans" panose="020B050302020302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DF2"/>
    <a:srgbClr val="F3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10"/>
  </p:normalViewPr>
  <p:slideViewPr>
    <p:cSldViewPr snapToGrid="0" snapToObjects="1">
      <p:cViewPr>
        <p:scale>
          <a:sx n="75" d="100"/>
          <a:sy n="75" d="100"/>
        </p:scale>
        <p:origin x="490"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202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transition>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ll/>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11" Type="http://schemas.openxmlformats.org/officeDocument/2006/relationships/image" Target="../media/image11.png"/><Relationship Id="rId5" Type="http://schemas.openxmlformats.org/officeDocument/2006/relationships/image" Target="../media/image8.png"/><Relationship Id="rId10" Type="http://schemas.microsoft.com/office/2007/relationships/hdphoto" Target="../media/hdphoto1.wdp"/><Relationship Id="rId4" Type="http://schemas.openxmlformats.org/officeDocument/2006/relationships/image" Target="../media/image7.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6.xml"/><Relationship Id="rId16"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4.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21" Type="http://schemas.openxmlformats.org/officeDocument/2006/relationships/image" Target="../media/image4.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svg"/><Relationship Id="rId2" Type="http://schemas.openxmlformats.org/officeDocument/2006/relationships/notesSlide" Target="../notesSlides/notesSlide7.xml"/><Relationship Id="rId16" Type="http://schemas.openxmlformats.org/officeDocument/2006/relationships/image" Target="../media/image39.png"/><Relationship Id="rId20" Type="http://schemas.openxmlformats.org/officeDocument/2006/relationships/image" Target="../media/image43.svg"/><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svg"/><Relationship Id="rId22"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4.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hidden="1"/>
          <p:cNvSpPr/>
          <p:nvPr/>
        </p:nvSpPr>
        <p:spPr>
          <a:xfrm>
            <a:off x="837724" y="2911554"/>
            <a:ext cx="12615148" cy="615910"/>
          </a:xfrm>
          <a:prstGeom prst="rect">
            <a:avLst/>
          </a:prstGeom>
          <a:noFill/>
          <a:ln/>
        </p:spPr>
        <p:txBody>
          <a:bodyPr wrap="none" lIns="0" tIns="0" rIns="0" bIns="0" rtlCol="0" anchor="t"/>
          <a:lstStyle/>
          <a:p>
            <a:pPr marL="0" indent="0" algn="l">
              <a:lnSpc>
                <a:spcPts val="4850"/>
              </a:lnSpc>
              <a:buNone/>
            </a:pPr>
            <a:r>
              <a:rPr lang="en-US" sz="3850" dirty="0">
                <a:solidFill>
                  <a:srgbClr val="00002E"/>
                </a:solidFill>
                <a:latin typeface="Nunito Semi Bold" pitchFamily="34" charset="0"/>
                <a:ea typeface="Nunito Semi Bold" pitchFamily="34" charset="-122"/>
                <a:cs typeface="Nunito Semi Bold" pitchFamily="34" charset="-120"/>
              </a:rPr>
              <a:t>Movie Recommendation System using Machine Learning</a:t>
            </a:r>
            <a:endParaRPr lang="en-US" sz="3850" dirty="0"/>
          </a:p>
        </p:txBody>
      </p:sp>
      <p:sp>
        <p:nvSpPr>
          <p:cNvPr id="3" name="Text 1" hidden="1"/>
          <p:cNvSpPr/>
          <p:nvPr/>
        </p:nvSpPr>
        <p:spPr>
          <a:xfrm>
            <a:off x="837724" y="3841552"/>
            <a:ext cx="12954952" cy="335042"/>
          </a:xfrm>
          <a:prstGeom prst="rect">
            <a:avLst/>
          </a:prstGeom>
          <a:noFill/>
          <a:ln/>
        </p:spPr>
        <p:txBody>
          <a:bodyPr wrap="none" lIns="0" tIns="0" rIns="0" bIns="0" rtlCol="0" anchor="t"/>
          <a:lstStyle/>
          <a:p>
            <a:pPr marL="0" indent="0" algn="l">
              <a:lnSpc>
                <a:spcPts val="2600"/>
              </a:lnSpc>
              <a:buNone/>
            </a:pPr>
            <a:r>
              <a:rPr lang="en-US" sz="1600" b="1" dirty="0">
                <a:solidFill>
                  <a:srgbClr val="00002E"/>
                </a:solidFill>
                <a:latin typeface="PT Sans" pitchFamily="34" charset="0"/>
                <a:ea typeface="PT Sans" pitchFamily="34" charset="-122"/>
                <a:cs typeface="PT Sans" pitchFamily="34" charset="-120"/>
              </a:rPr>
              <a:t>Course:</a:t>
            </a:r>
            <a:r>
              <a:rPr lang="en-US" sz="1600" dirty="0">
                <a:solidFill>
                  <a:srgbClr val="00002E"/>
                </a:solidFill>
                <a:latin typeface="PT Sans" pitchFamily="34" charset="0"/>
                <a:ea typeface="PT Sans" pitchFamily="34" charset="-122"/>
                <a:cs typeface="PT Sans" pitchFamily="34" charset="-120"/>
              </a:rPr>
              <a:t> Machine Learning | </a:t>
            </a:r>
            <a:r>
              <a:rPr lang="en-US" sz="1600" b="1" dirty="0">
                <a:solidFill>
                  <a:srgbClr val="00002E"/>
                </a:solidFill>
                <a:latin typeface="PT Sans" pitchFamily="34" charset="0"/>
                <a:ea typeface="PT Sans" pitchFamily="34" charset="-122"/>
                <a:cs typeface="PT Sans" pitchFamily="34" charset="-120"/>
              </a:rPr>
              <a:t>Course Code:</a:t>
            </a:r>
            <a:r>
              <a:rPr lang="en-US" sz="1600" dirty="0">
                <a:solidFill>
                  <a:srgbClr val="00002E"/>
                </a:solidFill>
                <a:latin typeface="PT Sans" pitchFamily="34" charset="0"/>
                <a:ea typeface="PT Sans" pitchFamily="34" charset="-122"/>
                <a:cs typeface="PT Sans" pitchFamily="34" charset="-120"/>
              </a:rPr>
              <a:t> E1UA406C</a:t>
            </a:r>
            <a:endParaRPr lang="en-US" sz="1600" dirty="0"/>
          </a:p>
        </p:txBody>
      </p:sp>
      <p:sp>
        <p:nvSpPr>
          <p:cNvPr id="4" name="Text 2" hidden="1"/>
          <p:cNvSpPr/>
          <p:nvPr/>
        </p:nvSpPr>
        <p:spPr>
          <a:xfrm>
            <a:off x="837724" y="4412218"/>
            <a:ext cx="12954952" cy="335042"/>
          </a:xfrm>
          <a:prstGeom prst="rect">
            <a:avLst/>
          </a:prstGeom>
          <a:noFill/>
          <a:ln/>
        </p:spPr>
        <p:txBody>
          <a:bodyPr wrap="none" lIns="0" tIns="0" rIns="0" bIns="0" rtlCol="0" anchor="t"/>
          <a:lstStyle/>
          <a:p>
            <a:pPr marL="0" indent="0" algn="l">
              <a:lnSpc>
                <a:spcPts val="2600"/>
              </a:lnSpc>
              <a:buNone/>
            </a:pPr>
            <a:r>
              <a:rPr lang="en-US" sz="1600" b="1" dirty="0">
                <a:solidFill>
                  <a:srgbClr val="00002E"/>
                </a:solidFill>
                <a:latin typeface="PT Sans" pitchFamily="34" charset="0"/>
                <a:ea typeface="PT Sans" pitchFamily="34" charset="-122"/>
                <a:cs typeface="PT Sans" pitchFamily="34" charset="-120"/>
              </a:rPr>
              <a:t>Presented by:</a:t>
            </a:r>
            <a:r>
              <a:rPr lang="en-US" sz="1600" dirty="0">
                <a:solidFill>
                  <a:srgbClr val="00002E"/>
                </a:solidFill>
                <a:latin typeface="PT Sans" pitchFamily="34" charset="0"/>
                <a:ea typeface="PT Sans" pitchFamily="34" charset="-122"/>
                <a:cs typeface="PT Sans" pitchFamily="34" charset="-120"/>
              </a:rPr>
              <a:t> Vansh Goel &amp; Shiva Tyagi</a:t>
            </a:r>
            <a:endParaRPr lang="en-US" sz="1600" dirty="0"/>
          </a:p>
        </p:txBody>
      </p:sp>
      <p:sp>
        <p:nvSpPr>
          <p:cNvPr id="5" name="Text 3" hidden="1"/>
          <p:cNvSpPr/>
          <p:nvPr/>
        </p:nvSpPr>
        <p:spPr>
          <a:xfrm>
            <a:off x="837724" y="4982885"/>
            <a:ext cx="12954952" cy="335042"/>
          </a:xfrm>
          <a:prstGeom prst="rect">
            <a:avLst/>
          </a:prstGeom>
          <a:noFill/>
          <a:ln/>
        </p:spPr>
        <p:txBody>
          <a:bodyPr wrap="none" lIns="0" tIns="0" rIns="0" bIns="0" rtlCol="0" anchor="t"/>
          <a:lstStyle/>
          <a:p>
            <a:pPr marL="0" indent="0" algn="l">
              <a:lnSpc>
                <a:spcPts val="2600"/>
              </a:lnSpc>
              <a:buNone/>
            </a:pPr>
            <a:r>
              <a:rPr lang="en-US" sz="1600" b="1" dirty="0">
                <a:solidFill>
                  <a:srgbClr val="00002E"/>
                </a:solidFill>
                <a:latin typeface="PT Sans" pitchFamily="34" charset="0"/>
                <a:ea typeface="PT Sans" pitchFamily="34" charset="-122"/>
                <a:cs typeface="PT Sans" pitchFamily="34" charset="-120"/>
              </a:rPr>
              <a:t>Instructor:</a:t>
            </a:r>
            <a:r>
              <a:rPr lang="en-US" sz="1600" dirty="0">
                <a:solidFill>
                  <a:srgbClr val="00002E"/>
                </a:solidFill>
                <a:latin typeface="PT Sans" pitchFamily="34" charset="0"/>
                <a:ea typeface="PT Sans" pitchFamily="34" charset="-122"/>
                <a:cs typeface="PT Sans" pitchFamily="34" charset="-120"/>
              </a:rPr>
              <a:t> Dr. Sanjay T Singh</a:t>
            </a:r>
            <a:endParaRPr lang="en-US" sz="1600" dirty="0"/>
          </a:p>
        </p:txBody>
      </p:sp>
      <p:sp>
        <p:nvSpPr>
          <p:cNvPr id="6" name="Watermark">
            <a:extLst>
              <a:ext uri="{FF2B5EF4-FFF2-40B4-BE49-F238E27FC236}">
                <a16:creationId xmlns:a16="http://schemas.microsoft.com/office/drawing/2014/main" id="{3ECF2916-E3E7-BEC6-6C03-7B3DDAB8DC43}"/>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a:extLst>
              <a:ext uri="{FF2B5EF4-FFF2-40B4-BE49-F238E27FC236}">
                <a16:creationId xmlns:a16="http://schemas.microsoft.com/office/drawing/2014/main" id="{88D1B7D6-F0D2-DE31-2C64-7AEF1F081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839" y="1668047"/>
            <a:ext cx="13260722" cy="12977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300DD9F-74E6-8CCA-980E-AA79511B434D}"/>
              </a:ext>
            </a:extLst>
          </p:cNvPr>
          <p:cNvSpPr txBox="1"/>
          <p:nvPr/>
        </p:nvSpPr>
        <p:spPr>
          <a:xfrm>
            <a:off x="3664092" y="3006244"/>
            <a:ext cx="7302217" cy="481370"/>
          </a:xfrm>
          <a:prstGeom prst="roundRect">
            <a:avLst>
              <a:gd name="adj" fmla="val 29418"/>
            </a:avLst>
          </a:prstGeom>
          <a:solidFill>
            <a:srgbClr val="2D4DF2"/>
          </a:solidFill>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IN" sz="2000" dirty="0">
                <a:latin typeface="Nunito Bold" pitchFamily="2" charset="0"/>
              </a:rPr>
              <a:t>MACHINE LEARNING – COURSE BASED PROJECT</a:t>
            </a:r>
          </a:p>
        </p:txBody>
      </p:sp>
      <p:grpSp>
        <p:nvGrpSpPr>
          <p:cNvPr id="16" name="Group 15">
            <a:extLst>
              <a:ext uri="{FF2B5EF4-FFF2-40B4-BE49-F238E27FC236}">
                <a16:creationId xmlns:a16="http://schemas.microsoft.com/office/drawing/2014/main" id="{C857323E-0B51-D682-0DA5-110E0D5A5359}"/>
              </a:ext>
            </a:extLst>
          </p:cNvPr>
          <p:cNvGrpSpPr/>
          <p:nvPr/>
        </p:nvGrpSpPr>
        <p:grpSpPr>
          <a:xfrm>
            <a:off x="270406" y="243389"/>
            <a:ext cx="13893480" cy="900000"/>
            <a:chOff x="270406" y="243389"/>
            <a:chExt cx="13893480" cy="900000"/>
          </a:xfrm>
        </p:grpSpPr>
        <p:pic>
          <p:nvPicPr>
            <p:cNvPr id="1030" name="Picture 6" descr="Galgotias-University-Logo | EROCON">
              <a:extLst>
                <a:ext uri="{FF2B5EF4-FFF2-40B4-BE49-F238E27FC236}">
                  <a16:creationId xmlns:a16="http://schemas.microsoft.com/office/drawing/2014/main" id="{CFF95478-8C39-A5B6-5EDA-C162F5647E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406" y="243389"/>
              <a:ext cx="1548091" cy="90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D06EB5E5-BBFC-37ED-EDC2-4BC6975471F1}"/>
                </a:ext>
              </a:extLst>
            </p:cNvPr>
            <p:cNvPicPr>
              <a:picLocks noChangeAspect="1"/>
            </p:cNvPicPr>
            <p:nvPr/>
          </p:nvPicPr>
          <p:blipFill>
            <a:blip r:embed="rId5"/>
            <a:srcRect l="885" t="847" r="1416" b="805"/>
            <a:stretch>
              <a:fillRect/>
            </a:stretch>
          </p:blipFill>
          <p:spPr>
            <a:xfrm>
              <a:off x="13300386" y="243389"/>
              <a:ext cx="863500" cy="900000"/>
            </a:xfrm>
            <a:prstGeom prst="rect">
              <a:avLst/>
            </a:prstGeom>
          </p:spPr>
        </p:pic>
      </p:grpSp>
      <p:grpSp>
        <p:nvGrpSpPr>
          <p:cNvPr id="33" name="Group 32">
            <a:extLst>
              <a:ext uri="{FF2B5EF4-FFF2-40B4-BE49-F238E27FC236}">
                <a16:creationId xmlns:a16="http://schemas.microsoft.com/office/drawing/2014/main" id="{BB2D7146-010B-8D0E-E8B1-768C0AE86C74}"/>
              </a:ext>
            </a:extLst>
          </p:cNvPr>
          <p:cNvGrpSpPr/>
          <p:nvPr/>
        </p:nvGrpSpPr>
        <p:grpSpPr>
          <a:xfrm>
            <a:off x="275253" y="6479707"/>
            <a:ext cx="6624128" cy="1172885"/>
            <a:chOff x="275253" y="6547441"/>
            <a:chExt cx="6624128" cy="1172885"/>
          </a:xfrm>
        </p:grpSpPr>
        <p:sp>
          <p:nvSpPr>
            <p:cNvPr id="20" name="Shape 2">
              <a:extLst>
                <a:ext uri="{FF2B5EF4-FFF2-40B4-BE49-F238E27FC236}">
                  <a16:creationId xmlns:a16="http://schemas.microsoft.com/office/drawing/2014/main" id="{0A0C77AD-0A76-3CCB-8E7F-696C9C970AB3}"/>
                </a:ext>
              </a:extLst>
            </p:cNvPr>
            <p:cNvSpPr/>
            <p:nvPr/>
          </p:nvSpPr>
          <p:spPr>
            <a:xfrm>
              <a:off x="380564" y="7126204"/>
              <a:ext cx="439817" cy="15240"/>
            </a:xfrm>
            <a:prstGeom prst="roundRect">
              <a:avLst>
                <a:gd name="adj" fmla="val 1443120"/>
              </a:avLst>
            </a:prstGeom>
            <a:solidFill>
              <a:srgbClr val="4666FF"/>
            </a:solidFill>
            <a:ln/>
          </p:spPr>
        </p:sp>
        <p:sp>
          <p:nvSpPr>
            <p:cNvPr id="22" name="Shape 4">
              <a:extLst>
                <a:ext uri="{FF2B5EF4-FFF2-40B4-BE49-F238E27FC236}">
                  <a16:creationId xmlns:a16="http://schemas.microsoft.com/office/drawing/2014/main" id="{AB5946D4-5D6E-481B-6E9D-431A58E8F131}"/>
                </a:ext>
              </a:extLst>
            </p:cNvPr>
            <p:cNvSpPr/>
            <p:nvPr/>
          </p:nvSpPr>
          <p:spPr>
            <a:xfrm>
              <a:off x="861722" y="6547441"/>
              <a:ext cx="6037659" cy="1172885"/>
            </a:xfrm>
            <a:prstGeom prst="roundRect">
              <a:avLst>
                <a:gd name="adj" fmla="val 18751"/>
              </a:avLst>
            </a:prstGeom>
            <a:solidFill>
              <a:srgbClr val="F3F3FF"/>
            </a:solidFill>
            <a:ln w="15240">
              <a:solidFill>
                <a:srgbClr val="2D4DF2"/>
              </a:solidFill>
              <a:prstDash val="solid"/>
            </a:ln>
          </p:spPr>
          <p:txBody>
            <a:bodyPr anchor="ctr"/>
            <a:lstStyle/>
            <a:p>
              <a:endParaRPr lang="en-IN"/>
            </a:p>
          </p:txBody>
        </p:sp>
        <p:sp>
          <p:nvSpPr>
            <p:cNvPr id="23" name="Text 5">
              <a:extLst>
                <a:ext uri="{FF2B5EF4-FFF2-40B4-BE49-F238E27FC236}">
                  <a16:creationId xmlns:a16="http://schemas.microsoft.com/office/drawing/2014/main" id="{05294AF6-A876-C504-CBF7-D52FAD685F5D}"/>
                </a:ext>
              </a:extLst>
            </p:cNvPr>
            <p:cNvSpPr/>
            <p:nvPr/>
          </p:nvSpPr>
          <p:spPr>
            <a:xfrm>
              <a:off x="1244002" y="6793253"/>
              <a:ext cx="5273098" cy="681260"/>
            </a:xfrm>
            <a:prstGeom prst="rect">
              <a:avLst/>
            </a:prstGeom>
            <a:noFill/>
            <a:ln/>
          </p:spPr>
          <p:txBody>
            <a:bodyPr wrap="none" lIns="0" tIns="0" rIns="0" bIns="0" rtlCol="0" anchor="ctr"/>
            <a:lstStyle/>
            <a:p>
              <a:pPr marL="0" indent="0">
                <a:buNone/>
              </a:pPr>
              <a:r>
                <a:rPr lang="en-US" sz="1600" dirty="0">
                  <a:solidFill>
                    <a:srgbClr val="00002E"/>
                  </a:solidFill>
                  <a:latin typeface="Nunito Semi Bold" pitchFamily="34" charset="0"/>
                  <a:ea typeface="Nunito Semi Bold" pitchFamily="34" charset="-122"/>
                  <a:cs typeface="Nunito Semi Bold" pitchFamily="34" charset="-120"/>
                </a:rPr>
                <a:t>Course Name: Machine Learning</a:t>
              </a:r>
            </a:p>
            <a:p>
              <a:pPr marL="0" indent="0">
                <a:buNone/>
              </a:pPr>
              <a:r>
                <a:rPr lang="en-US" sz="1600" dirty="0">
                  <a:solidFill>
                    <a:srgbClr val="00002E"/>
                  </a:solidFill>
                  <a:latin typeface="Nunito Semi Bold" pitchFamily="34" charset="0"/>
                </a:rPr>
                <a:t>Course Code: E1UA406C</a:t>
              </a:r>
            </a:p>
            <a:p>
              <a:pPr marL="0" indent="0">
                <a:buNone/>
              </a:pPr>
              <a:r>
                <a:rPr lang="en-US" sz="1600" dirty="0">
                  <a:solidFill>
                    <a:srgbClr val="00002E"/>
                  </a:solidFill>
                  <a:latin typeface="Nunito Semi Bold" pitchFamily="34" charset="0"/>
                </a:rPr>
                <a:t>Course Instructor: Dr. Sanjay T Singh</a:t>
              </a:r>
              <a:endParaRPr lang="en-US" sz="1600" dirty="0"/>
            </a:p>
          </p:txBody>
        </p:sp>
        <p:sp>
          <p:nvSpPr>
            <p:cNvPr id="21" name="Shape 3">
              <a:extLst>
                <a:ext uri="{FF2B5EF4-FFF2-40B4-BE49-F238E27FC236}">
                  <a16:creationId xmlns:a16="http://schemas.microsoft.com/office/drawing/2014/main" id="{F3897494-E968-E5A6-CEF6-1902E2C17B77}"/>
                </a:ext>
              </a:extLst>
            </p:cNvPr>
            <p:cNvSpPr/>
            <p:nvPr/>
          </p:nvSpPr>
          <p:spPr>
            <a:xfrm>
              <a:off x="275253" y="7084850"/>
              <a:ext cx="109895" cy="109895"/>
            </a:xfrm>
            <a:prstGeom prst="roundRect">
              <a:avLst>
                <a:gd name="adj" fmla="val 416033"/>
              </a:avLst>
            </a:prstGeom>
            <a:solidFill>
              <a:srgbClr val="2D4DF2"/>
            </a:solidFill>
            <a:ln/>
          </p:spPr>
        </p:sp>
      </p:grpSp>
      <p:grpSp>
        <p:nvGrpSpPr>
          <p:cNvPr id="34" name="Group 33">
            <a:extLst>
              <a:ext uri="{FF2B5EF4-FFF2-40B4-BE49-F238E27FC236}">
                <a16:creationId xmlns:a16="http://schemas.microsoft.com/office/drawing/2014/main" id="{B4790AD6-8D6C-9F79-0913-A333827611FA}"/>
              </a:ext>
            </a:extLst>
          </p:cNvPr>
          <p:cNvGrpSpPr/>
          <p:nvPr/>
        </p:nvGrpSpPr>
        <p:grpSpPr>
          <a:xfrm>
            <a:off x="7900304" y="6487387"/>
            <a:ext cx="6447097" cy="1172885"/>
            <a:chOff x="7900304" y="6555121"/>
            <a:chExt cx="6447097" cy="1172885"/>
          </a:xfrm>
        </p:grpSpPr>
        <p:sp>
          <p:nvSpPr>
            <p:cNvPr id="25" name="Shape 7">
              <a:extLst>
                <a:ext uri="{FF2B5EF4-FFF2-40B4-BE49-F238E27FC236}">
                  <a16:creationId xmlns:a16="http://schemas.microsoft.com/office/drawing/2014/main" id="{09209390-A4F9-FF73-F376-7F6D11EC4B97}"/>
                </a:ext>
              </a:extLst>
            </p:cNvPr>
            <p:cNvSpPr/>
            <p:nvPr/>
          </p:nvSpPr>
          <p:spPr>
            <a:xfrm>
              <a:off x="13808643" y="7133884"/>
              <a:ext cx="439817" cy="15240"/>
            </a:xfrm>
            <a:prstGeom prst="roundRect">
              <a:avLst>
                <a:gd name="adj" fmla="val 1443120"/>
              </a:avLst>
            </a:prstGeom>
            <a:solidFill>
              <a:srgbClr val="1AA5FA"/>
            </a:solidFill>
            <a:ln/>
          </p:spPr>
        </p:sp>
        <p:sp>
          <p:nvSpPr>
            <p:cNvPr id="26" name="Shape 8">
              <a:extLst>
                <a:ext uri="{FF2B5EF4-FFF2-40B4-BE49-F238E27FC236}">
                  <a16:creationId xmlns:a16="http://schemas.microsoft.com/office/drawing/2014/main" id="{F7498CD7-9792-3563-20C3-5E09E2AD53C1}"/>
                </a:ext>
              </a:extLst>
            </p:cNvPr>
            <p:cNvSpPr/>
            <p:nvPr/>
          </p:nvSpPr>
          <p:spPr>
            <a:xfrm>
              <a:off x="14237506" y="7080583"/>
              <a:ext cx="109895" cy="109895"/>
            </a:xfrm>
            <a:prstGeom prst="roundRect">
              <a:avLst>
                <a:gd name="adj" fmla="val 416033"/>
              </a:avLst>
            </a:prstGeom>
            <a:solidFill>
              <a:srgbClr val="018CE1"/>
            </a:solidFill>
            <a:ln/>
          </p:spPr>
        </p:sp>
        <p:sp>
          <p:nvSpPr>
            <p:cNvPr id="27" name="Shape 9">
              <a:extLst>
                <a:ext uri="{FF2B5EF4-FFF2-40B4-BE49-F238E27FC236}">
                  <a16:creationId xmlns:a16="http://schemas.microsoft.com/office/drawing/2014/main" id="{72399905-2FE5-A626-9843-7BBBBCB741DE}"/>
                </a:ext>
              </a:extLst>
            </p:cNvPr>
            <p:cNvSpPr/>
            <p:nvPr/>
          </p:nvSpPr>
          <p:spPr>
            <a:xfrm>
              <a:off x="7900304" y="6555121"/>
              <a:ext cx="6037659" cy="1172885"/>
            </a:xfrm>
            <a:prstGeom prst="roundRect">
              <a:avLst>
                <a:gd name="adj" fmla="val 18751"/>
              </a:avLst>
            </a:prstGeom>
            <a:solidFill>
              <a:srgbClr val="F3F3FF"/>
            </a:solidFill>
            <a:ln w="15240">
              <a:solidFill>
                <a:srgbClr val="018CE1"/>
              </a:solidFill>
              <a:prstDash val="solid"/>
            </a:ln>
          </p:spPr>
        </p:sp>
        <p:sp>
          <p:nvSpPr>
            <p:cNvPr id="32" name="Text 5">
              <a:extLst>
                <a:ext uri="{FF2B5EF4-FFF2-40B4-BE49-F238E27FC236}">
                  <a16:creationId xmlns:a16="http://schemas.microsoft.com/office/drawing/2014/main" id="{DB031A8D-E69C-5EA3-6C50-37DF6249F2DA}"/>
                </a:ext>
              </a:extLst>
            </p:cNvPr>
            <p:cNvSpPr/>
            <p:nvPr/>
          </p:nvSpPr>
          <p:spPr>
            <a:xfrm>
              <a:off x="8282584" y="6800933"/>
              <a:ext cx="5273098" cy="681260"/>
            </a:xfrm>
            <a:prstGeom prst="rect">
              <a:avLst/>
            </a:prstGeom>
            <a:noFill/>
            <a:ln/>
          </p:spPr>
          <p:txBody>
            <a:bodyPr wrap="none" lIns="0" tIns="0" rIns="0" bIns="0" rtlCol="0" anchor="t"/>
            <a:lstStyle/>
            <a:p>
              <a:pPr marL="0" indent="0">
                <a:buNone/>
              </a:pPr>
              <a:r>
                <a:rPr lang="en-US" sz="1600" dirty="0">
                  <a:solidFill>
                    <a:srgbClr val="00002E"/>
                  </a:solidFill>
                  <a:latin typeface="Nunito Semi Bold" pitchFamily="34" charset="0"/>
                  <a:ea typeface="Nunito Semi Bold" pitchFamily="34" charset="-122"/>
                  <a:cs typeface="Nunito Semi Bold" pitchFamily="34" charset="-120"/>
                </a:rPr>
                <a:t>Presented By:</a:t>
              </a:r>
            </a:p>
            <a:p>
              <a:pPr marL="0" indent="0">
                <a:buNone/>
              </a:pPr>
              <a:r>
                <a:rPr lang="en-US" sz="1600" dirty="0">
                  <a:solidFill>
                    <a:srgbClr val="00002E"/>
                  </a:solidFill>
                  <a:latin typeface="Nunito Semi Bold" pitchFamily="34" charset="0"/>
                </a:rPr>
                <a:t>Vansh Goel – 24SCSE1720002</a:t>
              </a:r>
            </a:p>
            <a:p>
              <a:pPr marL="0" indent="0">
                <a:buNone/>
              </a:pPr>
              <a:r>
                <a:rPr lang="en-US" sz="1600" dirty="0">
                  <a:solidFill>
                    <a:srgbClr val="00002E"/>
                  </a:solidFill>
                  <a:latin typeface="Nunito Semi Bold" pitchFamily="34" charset="0"/>
                </a:rPr>
                <a:t>Shiva Tyagi – 24SCSE</a:t>
              </a:r>
              <a:endParaRPr lang="en-US" sz="1600" dirty="0"/>
            </a:p>
          </p:txBody>
        </p:sp>
      </p:grpSp>
    </p:spTree>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746879"/>
            <a:ext cx="3449836" cy="431244"/>
          </a:xfrm>
          <a:prstGeom prst="rect">
            <a:avLst/>
          </a:prstGeom>
          <a:noFill/>
          <a:ln/>
        </p:spPr>
        <p:txBody>
          <a:bodyPr wrap="none" lIns="0" tIns="0" rIns="0" bIns="0" rtlCol="0" anchor="t"/>
          <a:lstStyle/>
          <a:p>
            <a:pPr marL="0" indent="0" algn="l">
              <a:lnSpc>
                <a:spcPts val="3350"/>
              </a:lnSpc>
              <a:buNone/>
            </a:pPr>
            <a:r>
              <a:rPr lang="en-US" sz="2700" dirty="0">
                <a:solidFill>
                  <a:srgbClr val="00002E"/>
                </a:solidFill>
                <a:latin typeface="Nunito Semi Bold" pitchFamily="34" charset="0"/>
                <a:ea typeface="Nunito Semi Bold" pitchFamily="34" charset="-122"/>
                <a:cs typeface="Nunito Semi Bold" pitchFamily="34" charset="-120"/>
              </a:rPr>
              <a:t>Table of Contents</a:t>
            </a:r>
            <a:endParaRPr lang="en-US" sz="2700" dirty="0"/>
          </a:p>
        </p:txBody>
      </p:sp>
      <p:sp>
        <p:nvSpPr>
          <p:cNvPr id="3" name="Shape 1"/>
          <p:cNvSpPr/>
          <p:nvPr/>
        </p:nvSpPr>
        <p:spPr>
          <a:xfrm>
            <a:off x="7307580" y="1383387"/>
            <a:ext cx="15240" cy="6099334"/>
          </a:xfrm>
          <a:prstGeom prst="roundRect">
            <a:avLst>
              <a:gd name="adj" fmla="val 1443120"/>
            </a:avLst>
          </a:prstGeom>
          <a:solidFill>
            <a:srgbClr val="000000">
              <a:alpha val="8000"/>
            </a:srgbClr>
          </a:solidFill>
          <a:ln/>
        </p:spPr>
      </p:sp>
      <p:grpSp>
        <p:nvGrpSpPr>
          <p:cNvPr id="46" name="Group 45">
            <a:extLst>
              <a:ext uri="{FF2B5EF4-FFF2-40B4-BE49-F238E27FC236}">
                <a16:creationId xmlns:a16="http://schemas.microsoft.com/office/drawing/2014/main" id="{CBC7E986-F5E2-90D4-948E-3D07FD6C8B49}"/>
              </a:ext>
            </a:extLst>
          </p:cNvPr>
          <p:cNvGrpSpPr/>
          <p:nvPr/>
        </p:nvGrpSpPr>
        <p:grpSpPr>
          <a:xfrm>
            <a:off x="837724" y="1383387"/>
            <a:ext cx="6532424" cy="1172885"/>
            <a:chOff x="837724" y="1383387"/>
            <a:chExt cx="6532424" cy="1172885"/>
          </a:xfrm>
        </p:grpSpPr>
        <p:sp>
          <p:nvSpPr>
            <p:cNvPr id="4" name="Shape 2"/>
            <p:cNvSpPr/>
            <p:nvPr/>
          </p:nvSpPr>
          <p:spPr>
            <a:xfrm>
              <a:off x="6890623" y="1962150"/>
              <a:ext cx="439817" cy="15240"/>
            </a:xfrm>
            <a:prstGeom prst="roundRect">
              <a:avLst>
                <a:gd name="adj" fmla="val 1443120"/>
              </a:avLst>
            </a:prstGeom>
            <a:solidFill>
              <a:srgbClr val="4666FF"/>
            </a:solidFill>
            <a:ln/>
          </p:spPr>
        </p:sp>
        <p:sp>
          <p:nvSpPr>
            <p:cNvPr id="5" name="Shape 3"/>
            <p:cNvSpPr/>
            <p:nvPr/>
          </p:nvSpPr>
          <p:spPr>
            <a:xfrm>
              <a:off x="7260253" y="1914823"/>
              <a:ext cx="109895" cy="109895"/>
            </a:xfrm>
            <a:prstGeom prst="roundRect">
              <a:avLst>
                <a:gd name="adj" fmla="val 416033"/>
              </a:avLst>
            </a:prstGeom>
            <a:solidFill>
              <a:srgbClr val="2D4DF2"/>
            </a:solidFill>
            <a:ln/>
          </p:spPr>
        </p:sp>
        <p:sp>
          <p:nvSpPr>
            <p:cNvPr id="6" name="Shape 4"/>
            <p:cNvSpPr/>
            <p:nvPr/>
          </p:nvSpPr>
          <p:spPr>
            <a:xfrm>
              <a:off x="837724" y="1383387"/>
              <a:ext cx="6037659" cy="1172885"/>
            </a:xfrm>
            <a:prstGeom prst="roundRect">
              <a:avLst>
                <a:gd name="adj" fmla="val 18751"/>
              </a:avLst>
            </a:prstGeom>
            <a:solidFill>
              <a:srgbClr val="F3F3FF"/>
            </a:solidFill>
            <a:ln w="15240">
              <a:solidFill>
                <a:srgbClr val="2D4DF2"/>
              </a:solidFill>
              <a:prstDash val="solid"/>
            </a:ln>
          </p:spPr>
        </p:sp>
        <p:sp>
          <p:nvSpPr>
            <p:cNvPr id="7" name="Text 5"/>
            <p:cNvSpPr/>
            <p:nvPr/>
          </p:nvSpPr>
          <p:spPr>
            <a:xfrm>
              <a:off x="4988719" y="1545193"/>
              <a:ext cx="1724858" cy="215622"/>
            </a:xfrm>
            <a:prstGeom prst="rect">
              <a:avLst/>
            </a:prstGeom>
            <a:noFill/>
            <a:ln/>
          </p:spPr>
          <p:txBody>
            <a:bodyPr wrap="none" lIns="0" tIns="0" rIns="0" bIns="0" rtlCol="0" anchor="t"/>
            <a:lstStyle/>
            <a:p>
              <a:pPr marL="0" indent="0" algn="r">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Introduction</a:t>
              </a:r>
              <a:endParaRPr lang="en-US" sz="1350" dirty="0"/>
            </a:p>
          </p:txBody>
        </p:sp>
        <p:sp>
          <p:nvSpPr>
            <p:cNvPr id="8" name="Text 6"/>
            <p:cNvSpPr/>
            <p:nvPr/>
          </p:nvSpPr>
          <p:spPr>
            <a:xfrm>
              <a:off x="999530" y="1822371"/>
              <a:ext cx="5714048" cy="199311"/>
            </a:xfrm>
            <a:prstGeom prst="rect">
              <a:avLst/>
            </a:prstGeom>
            <a:noFill/>
            <a:ln/>
          </p:spPr>
          <p:txBody>
            <a:bodyPr wrap="none" lIns="0" tIns="0" rIns="0" bIns="0" rtlCol="0" anchor="t"/>
            <a:lstStyle/>
            <a:p>
              <a:pPr marL="0" indent="0" algn="r">
                <a:lnSpc>
                  <a:spcPts val="1550"/>
                </a:lnSpc>
                <a:buNone/>
              </a:pPr>
              <a:r>
                <a:rPr lang="en-US" sz="1150" dirty="0">
                  <a:solidFill>
                    <a:srgbClr val="00002E"/>
                  </a:solidFill>
                  <a:latin typeface="PT Sans" pitchFamily="34" charset="0"/>
                  <a:ea typeface="PT Sans" pitchFamily="34" charset="-122"/>
                  <a:cs typeface="PT Sans" pitchFamily="34" charset="-120"/>
                </a:rPr>
                <a:t>Understanding Machine Learning and recommendation systems</a:t>
              </a:r>
              <a:endParaRPr lang="en-US" sz="1150" dirty="0"/>
            </a:p>
          </p:txBody>
        </p:sp>
      </p:grpSp>
      <p:grpSp>
        <p:nvGrpSpPr>
          <p:cNvPr id="47" name="Group 46">
            <a:extLst>
              <a:ext uri="{FF2B5EF4-FFF2-40B4-BE49-F238E27FC236}">
                <a16:creationId xmlns:a16="http://schemas.microsoft.com/office/drawing/2014/main" id="{54771644-7CBE-C32E-BF22-F47BDA9B00D6}"/>
              </a:ext>
            </a:extLst>
          </p:cNvPr>
          <p:cNvGrpSpPr/>
          <p:nvPr/>
        </p:nvGrpSpPr>
        <p:grpSpPr>
          <a:xfrm>
            <a:off x="7260253" y="2175034"/>
            <a:ext cx="6532423" cy="1172885"/>
            <a:chOff x="7260253" y="2175034"/>
            <a:chExt cx="6532423" cy="1172885"/>
          </a:xfrm>
        </p:grpSpPr>
        <p:sp>
          <p:nvSpPr>
            <p:cNvPr id="9" name="Shape 7"/>
            <p:cNvSpPr/>
            <p:nvPr/>
          </p:nvSpPr>
          <p:spPr>
            <a:xfrm>
              <a:off x="7299960" y="2753797"/>
              <a:ext cx="439817" cy="15240"/>
            </a:xfrm>
            <a:prstGeom prst="roundRect">
              <a:avLst>
                <a:gd name="adj" fmla="val 1443120"/>
              </a:avLst>
            </a:prstGeom>
            <a:solidFill>
              <a:srgbClr val="1AA5FA"/>
            </a:solidFill>
            <a:ln/>
          </p:spPr>
        </p:sp>
        <p:sp>
          <p:nvSpPr>
            <p:cNvPr id="10" name="Shape 8"/>
            <p:cNvSpPr/>
            <p:nvPr/>
          </p:nvSpPr>
          <p:spPr>
            <a:xfrm>
              <a:off x="7260253" y="2706469"/>
              <a:ext cx="109895" cy="109895"/>
            </a:xfrm>
            <a:prstGeom prst="roundRect">
              <a:avLst>
                <a:gd name="adj" fmla="val 416033"/>
              </a:avLst>
            </a:prstGeom>
            <a:solidFill>
              <a:srgbClr val="018CE1"/>
            </a:solidFill>
            <a:ln/>
          </p:spPr>
        </p:sp>
        <p:sp>
          <p:nvSpPr>
            <p:cNvPr id="11" name="Shape 9"/>
            <p:cNvSpPr/>
            <p:nvPr/>
          </p:nvSpPr>
          <p:spPr>
            <a:xfrm>
              <a:off x="7755017" y="2175034"/>
              <a:ext cx="6037659" cy="1172885"/>
            </a:xfrm>
            <a:prstGeom prst="roundRect">
              <a:avLst>
                <a:gd name="adj" fmla="val 18751"/>
              </a:avLst>
            </a:prstGeom>
            <a:solidFill>
              <a:srgbClr val="F3F3FF"/>
            </a:solidFill>
            <a:ln w="15240">
              <a:solidFill>
                <a:srgbClr val="018CE1"/>
              </a:solidFill>
              <a:prstDash val="solid"/>
            </a:ln>
          </p:spPr>
        </p:sp>
        <p:sp>
          <p:nvSpPr>
            <p:cNvPr id="12" name="Text 10"/>
            <p:cNvSpPr/>
            <p:nvPr/>
          </p:nvSpPr>
          <p:spPr>
            <a:xfrm>
              <a:off x="7916823" y="2336840"/>
              <a:ext cx="1724858" cy="215622"/>
            </a:xfrm>
            <a:prstGeom prst="rect">
              <a:avLst/>
            </a:prstGeom>
            <a:noFill/>
            <a:ln/>
          </p:spPr>
          <p:txBody>
            <a:bodyPr wrap="none" lIns="0" tIns="0" rIns="0" bIns="0" rtlCol="0" anchor="t"/>
            <a:lstStyle/>
            <a:p>
              <a:pPr marL="0" indent="0" algn="l">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Problem Statement</a:t>
              </a:r>
              <a:endParaRPr lang="en-US" sz="1350" dirty="0"/>
            </a:p>
          </p:txBody>
        </p:sp>
        <p:sp>
          <p:nvSpPr>
            <p:cNvPr id="13" name="Text 11"/>
            <p:cNvSpPr/>
            <p:nvPr/>
          </p:nvSpPr>
          <p:spPr>
            <a:xfrm>
              <a:off x="7916823" y="2614017"/>
              <a:ext cx="5714048" cy="199311"/>
            </a:xfrm>
            <a:prstGeom prst="rect">
              <a:avLst/>
            </a:prstGeom>
            <a:noFill/>
            <a:ln/>
          </p:spPr>
          <p:txBody>
            <a:bodyPr wrap="none" lIns="0" tIns="0" rIns="0" bIns="0" rtlCol="0" anchor="t"/>
            <a:lstStyle/>
            <a:p>
              <a:pPr marL="0" indent="0" algn="l">
                <a:lnSpc>
                  <a:spcPts val="1550"/>
                </a:lnSpc>
                <a:buNone/>
              </a:pPr>
              <a:r>
                <a:rPr lang="en-US" sz="1150" dirty="0">
                  <a:solidFill>
                    <a:srgbClr val="00002E"/>
                  </a:solidFill>
                  <a:latin typeface="PT Sans" pitchFamily="34" charset="0"/>
                  <a:ea typeface="PT Sans" pitchFamily="34" charset="-122"/>
                  <a:cs typeface="PT Sans" pitchFamily="34" charset="-120"/>
                </a:rPr>
                <a:t>Challenges in movie selection on streaming platforms</a:t>
              </a:r>
              <a:endParaRPr lang="en-US" sz="1150" dirty="0"/>
            </a:p>
          </p:txBody>
        </p:sp>
      </p:grpSp>
      <p:grpSp>
        <p:nvGrpSpPr>
          <p:cNvPr id="48" name="Group 47">
            <a:extLst>
              <a:ext uri="{FF2B5EF4-FFF2-40B4-BE49-F238E27FC236}">
                <a16:creationId xmlns:a16="http://schemas.microsoft.com/office/drawing/2014/main" id="{2BE57D42-9416-C1EC-56C4-93C51F709A2D}"/>
              </a:ext>
            </a:extLst>
          </p:cNvPr>
          <p:cNvGrpSpPr/>
          <p:nvPr/>
        </p:nvGrpSpPr>
        <p:grpSpPr>
          <a:xfrm>
            <a:off x="837724" y="2864048"/>
            <a:ext cx="6532424" cy="1172885"/>
            <a:chOff x="837724" y="2864048"/>
            <a:chExt cx="6532424" cy="1172885"/>
          </a:xfrm>
        </p:grpSpPr>
        <p:sp>
          <p:nvSpPr>
            <p:cNvPr id="14" name="Shape 12"/>
            <p:cNvSpPr/>
            <p:nvPr/>
          </p:nvSpPr>
          <p:spPr>
            <a:xfrm>
              <a:off x="6890623" y="3442811"/>
              <a:ext cx="439817" cy="15240"/>
            </a:xfrm>
            <a:prstGeom prst="roundRect">
              <a:avLst>
                <a:gd name="adj" fmla="val 1443120"/>
              </a:avLst>
            </a:prstGeom>
            <a:solidFill>
              <a:srgbClr val="F34CD8"/>
            </a:solidFill>
            <a:ln/>
          </p:spPr>
        </p:sp>
        <p:sp>
          <p:nvSpPr>
            <p:cNvPr id="15" name="Shape 13"/>
            <p:cNvSpPr/>
            <p:nvPr/>
          </p:nvSpPr>
          <p:spPr>
            <a:xfrm>
              <a:off x="7260253" y="3395484"/>
              <a:ext cx="109895" cy="109895"/>
            </a:xfrm>
            <a:prstGeom prst="roundRect">
              <a:avLst>
                <a:gd name="adj" fmla="val 416033"/>
              </a:avLst>
            </a:prstGeom>
            <a:solidFill>
              <a:srgbClr val="DA33BF"/>
            </a:solidFill>
            <a:ln/>
          </p:spPr>
        </p:sp>
        <p:sp>
          <p:nvSpPr>
            <p:cNvPr id="16" name="Shape 14"/>
            <p:cNvSpPr/>
            <p:nvPr/>
          </p:nvSpPr>
          <p:spPr>
            <a:xfrm>
              <a:off x="837724" y="2864048"/>
              <a:ext cx="6037659" cy="1172885"/>
            </a:xfrm>
            <a:prstGeom prst="roundRect">
              <a:avLst>
                <a:gd name="adj" fmla="val 18751"/>
              </a:avLst>
            </a:prstGeom>
            <a:solidFill>
              <a:srgbClr val="F3F3FF"/>
            </a:solidFill>
            <a:ln w="15240">
              <a:solidFill>
                <a:srgbClr val="DA33BF"/>
              </a:solidFill>
              <a:prstDash val="solid"/>
            </a:ln>
          </p:spPr>
        </p:sp>
        <p:sp>
          <p:nvSpPr>
            <p:cNvPr id="17" name="Text 15"/>
            <p:cNvSpPr/>
            <p:nvPr/>
          </p:nvSpPr>
          <p:spPr>
            <a:xfrm>
              <a:off x="4988719" y="3025854"/>
              <a:ext cx="1724858" cy="215622"/>
            </a:xfrm>
            <a:prstGeom prst="rect">
              <a:avLst/>
            </a:prstGeom>
            <a:noFill/>
            <a:ln/>
          </p:spPr>
          <p:txBody>
            <a:bodyPr wrap="none" lIns="0" tIns="0" rIns="0" bIns="0" rtlCol="0" anchor="t"/>
            <a:lstStyle/>
            <a:p>
              <a:pPr marL="0" indent="0" algn="r">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Project Objectives</a:t>
              </a:r>
              <a:endParaRPr lang="en-US" sz="1350" dirty="0"/>
            </a:p>
          </p:txBody>
        </p:sp>
        <p:sp>
          <p:nvSpPr>
            <p:cNvPr id="18" name="Text 16"/>
            <p:cNvSpPr/>
            <p:nvPr/>
          </p:nvSpPr>
          <p:spPr>
            <a:xfrm>
              <a:off x="999530" y="3303032"/>
              <a:ext cx="5714048" cy="199311"/>
            </a:xfrm>
            <a:prstGeom prst="rect">
              <a:avLst/>
            </a:prstGeom>
            <a:noFill/>
            <a:ln/>
          </p:spPr>
          <p:txBody>
            <a:bodyPr wrap="none" lIns="0" tIns="0" rIns="0" bIns="0" rtlCol="0" anchor="t"/>
            <a:lstStyle/>
            <a:p>
              <a:pPr marL="0" indent="0" algn="r">
                <a:lnSpc>
                  <a:spcPts val="1550"/>
                </a:lnSpc>
                <a:buNone/>
              </a:pPr>
              <a:r>
                <a:rPr lang="en-US" sz="1150" dirty="0">
                  <a:solidFill>
                    <a:srgbClr val="00002E"/>
                  </a:solidFill>
                  <a:latin typeface="PT Sans" pitchFamily="34" charset="0"/>
                  <a:ea typeface="PT Sans" pitchFamily="34" charset="-122"/>
                  <a:cs typeface="PT Sans" pitchFamily="34" charset="-120"/>
                </a:rPr>
                <a:t>Goals and learning outcomes of the project</a:t>
              </a:r>
              <a:endParaRPr lang="en-US" sz="1150" dirty="0"/>
            </a:p>
          </p:txBody>
        </p:sp>
      </p:grpSp>
      <p:grpSp>
        <p:nvGrpSpPr>
          <p:cNvPr id="49" name="Group 48">
            <a:extLst>
              <a:ext uri="{FF2B5EF4-FFF2-40B4-BE49-F238E27FC236}">
                <a16:creationId xmlns:a16="http://schemas.microsoft.com/office/drawing/2014/main" id="{73AA7B46-5F3E-CAAB-965E-1B6F4357BD78}"/>
              </a:ext>
            </a:extLst>
          </p:cNvPr>
          <p:cNvGrpSpPr/>
          <p:nvPr/>
        </p:nvGrpSpPr>
        <p:grpSpPr>
          <a:xfrm>
            <a:off x="7260253" y="3553182"/>
            <a:ext cx="6532423" cy="1172885"/>
            <a:chOff x="7260253" y="3553182"/>
            <a:chExt cx="6532423" cy="1172885"/>
          </a:xfrm>
        </p:grpSpPr>
        <p:sp>
          <p:nvSpPr>
            <p:cNvPr id="19" name="Shape 17"/>
            <p:cNvSpPr/>
            <p:nvPr/>
          </p:nvSpPr>
          <p:spPr>
            <a:xfrm>
              <a:off x="7299960" y="4131945"/>
              <a:ext cx="439817" cy="15240"/>
            </a:xfrm>
            <a:prstGeom prst="roundRect">
              <a:avLst>
                <a:gd name="adj" fmla="val 1443120"/>
              </a:avLst>
            </a:prstGeom>
            <a:solidFill>
              <a:srgbClr val="4666FF"/>
            </a:solidFill>
            <a:ln/>
          </p:spPr>
        </p:sp>
        <p:sp>
          <p:nvSpPr>
            <p:cNvPr id="20" name="Shape 18"/>
            <p:cNvSpPr/>
            <p:nvPr/>
          </p:nvSpPr>
          <p:spPr>
            <a:xfrm>
              <a:off x="7260253" y="4084618"/>
              <a:ext cx="109895" cy="109895"/>
            </a:xfrm>
            <a:prstGeom prst="roundRect">
              <a:avLst>
                <a:gd name="adj" fmla="val 416033"/>
              </a:avLst>
            </a:prstGeom>
            <a:solidFill>
              <a:srgbClr val="2D4DF2"/>
            </a:solidFill>
            <a:ln/>
          </p:spPr>
        </p:sp>
        <p:sp>
          <p:nvSpPr>
            <p:cNvPr id="21" name="Shape 19"/>
            <p:cNvSpPr/>
            <p:nvPr/>
          </p:nvSpPr>
          <p:spPr>
            <a:xfrm>
              <a:off x="7755017" y="3553182"/>
              <a:ext cx="6037659" cy="1172885"/>
            </a:xfrm>
            <a:prstGeom prst="roundRect">
              <a:avLst>
                <a:gd name="adj" fmla="val 18751"/>
              </a:avLst>
            </a:prstGeom>
            <a:solidFill>
              <a:srgbClr val="F3F3FF"/>
            </a:solidFill>
            <a:ln w="15240">
              <a:solidFill>
                <a:srgbClr val="2D4DF2"/>
              </a:solidFill>
              <a:prstDash val="solid"/>
            </a:ln>
          </p:spPr>
        </p:sp>
        <p:sp>
          <p:nvSpPr>
            <p:cNvPr id="22" name="Text 20"/>
            <p:cNvSpPr/>
            <p:nvPr/>
          </p:nvSpPr>
          <p:spPr>
            <a:xfrm>
              <a:off x="7916823" y="3714988"/>
              <a:ext cx="1724858" cy="215622"/>
            </a:xfrm>
            <a:prstGeom prst="rect">
              <a:avLst/>
            </a:prstGeom>
            <a:noFill/>
            <a:ln/>
          </p:spPr>
          <p:txBody>
            <a:bodyPr wrap="none" lIns="0" tIns="0" rIns="0" bIns="0" rtlCol="0" anchor="t"/>
            <a:lstStyle/>
            <a:p>
              <a:pPr marL="0" indent="0" algn="l">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Dataset Description</a:t>
              </a:r>
              <a:endParaRPr lang="en-US" sz="1350" dirty="0"/>
            </a:p>
          </p:txBody>
        </p:sp>
        <p:sp>
          <p:nvSpPr>
            <p:cNvPr id="23" name="Text 21"/>
            <p:cNvSpPr/>
            <p:nvPr/>
          </p:nvSpPr>
          <p:spPr>
            <a:xfrm>
              <a:off x="7916823" y="3992166"/>
              <a:ext cx="5714048" cy="199311"/>
            </a:xfrm>
            <a:prstGeom prst="rect">
              <a:avLst/>
            </a:prstGeom>
            <a:noFill/>
            <a:ln/>
          </p:spPr>
          <p:txBody>
            <a:bodyPr wrap="none" lIns="0" tIns="0" rIns="0" bIns="0" rtlCol="0" anchor="t"/>
            <a:lstStyle/>
            <a:p>
              <a:pPr marL="0" indent="0" algn="l">
                <a:lnSpc>
                  <a:spcPts val="1550"/>
                </a:lnSpc>
                <a:buNone/>
              </a:pPr>
              <a:r>
                <a:rPr lang="en-US" sz="1150" dirty="0">
                  <a:solidFill>
                    <a:srgbClr val="00002E"/>
                  </a:solidFill>
                  <a:latin typeface="PT Sans" pitchFamily="34" charset="0"/>
                  <a:ea typeface="PT Sans" pitchFamily="34" charset="-122"/>
                  <a:cs typeface="PT Sans" pitchFamily="34" charset="-120"/>
                </a:rPr>
                <a:t>Data sources and key attributes used</a:t>
              </a:r>
              <a:endParaRPr lang="en-US" sz="1150" dirty="0"/>
            </a:p>
          </p:txBody>
        </p:sp>
      </p:grpSp>
      <p:grpSp>
        <p:nvGrpSpPr>
          <p:cNvPr id="54" name="Group 53">
            <a:extLst>
              <a:ext uri="{FF2B5EF4-FFF2-40B4-BE49-F238E27FC236}">
                <a16:creationId xmlns:a16="http://schemas.microsoft.com/office/drawing/2014/main" id="{EEE5D50B-807A-3010-0DD3-A5E57E0C7A81}"/>
              </a:ext>
            </a:extLst>
          </p:cNvPr>
          <p:cNvGrpSpPr/>
          <p:nvPr/>
        </p:nvGrpSpPr>
        <p:grpSpPr>
          <a:xfrm>
            <a:off x="837724" y="4242316"/>
            <a:ext cx="6532424" cy="1172885"/>
            <a:chOff x="837724" y="4242316"/>
            <a:chExt cx="6532424" cy="1172885"/>
          </a:xfrm>
        </p:grpSpPr>
        <p:sp>
          <p:nvSpPr>
            <p:cNvPr id="24" name="Shape 22"/>
            <p:cNvSpPr/>
            <p:nvPr/>
          </p:nvSpPr>
          <p:spPr>
            <a:xfrm>
              <a:off x="6890623" y="4821079"/>
              <a:ext cx="439817" cy="15240"/>
            </a:xfrm>
            <a:prstGeom prst="roundRect">
              <a:avLst>
                <a:gd name="adj" fmla="val 1443120"/>
              </a:avLst>
            </a:prstGeom>
            <a:solidFill>
              <a:srgbClr val="1AA5FA"/>
            </a:solidFill>
            <a:ln/>
          </p:spPr>
        </p:sp>
        <p:sp>
          <p:nvSpPr>
            <p:cNvPr id="25" name="Shape 23"/>
            <p:cNvSpPr/>
            <p:nvPr/>
          </p:nvSpPr>
          <p:spPr>
            <a:xfrm>
              <a:off x="7260253" y="4773751"/>
              <a:ext cx="109895" cy="109895"/>
            </a:xfrm>
            <a:prstGeom prst="roundRect">
              <a:avLst>
                <a:gd name="adj" fmla="val 416033"/>
              </a:avLst>
            </a:prstGeom>
            <a:solidFill>
              <a:srgbClr val="018CE1"/>
            </a:solidFill>
            <a:ln/>
          </p:spPr>
        </p:sp>
        <p:sp>
          <p:nvSpPr>
            <p:cNvPr id="26" name="Shape 24"/>
            <p:cNvSpPr/>
            <p:nvPr/>
          </p:nvSpPr>
          <p:spPr>
            <a:xfrm>
              <a:off x="837724" y="4242316"/>
              <a:ext cx="6037659" cy="1172885"/>
            </a:xfrm>
            <a:prstGeom prst="roundRect">
              <a:avLst>
                <a:gd name="adj" fmla="val 18751"/>
              </a:avLst>
            </a:prstGeom>
            <a:solidFill>
              <a:srgbClr val="F3F3FF"/>
            </a:solidFill>
            <a:ln w="15240">
              <a:solidFill>
                <a:srgbClr val="018CE1"/>
              </a:solidFill>
              <a:prstDash val="solid"/>
            </a:ln>
          </p:spPr>
        </p:sp>
        <p:sp>
          <p:nvSpPr>
            <p:cNvPr id="27" name="Text 25"/>
            <p:cNvSpPr/>
            <p:nvPr/>
          </p:nvSpPr>
          <p:spPr>
            <a:xfrm>
              <a:off x="4238506" y="4404122"/>
              <a:ext cx="2475071" cy="215622"/>
            </a:xfrm>
            <a:prstGeom prst="rect">
              <a:avLst/>
            </a:prstGeom>
            <a:noFill/>
            <a:ln/>
          </p:spPr>
          <p:txBody>
            <a:bodyPr wrap="none" lIns="0" tIns="0" rIns="0" bIns="0" rtlCol="0" anchor="t"/>
            <a:lstStyle/>
            <a:p>
              <a:pPr marL="0" indent="0" algn="r">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Machine Learning Methodology</a:t>
              </a:r>
              <a:endParaRPr lang="en-US" sz="1350" dirty="0"/>
            </a:p>
          </p:txBody>
        </p:sp>
        <p:sp>
          <p:nvSpPr>
            <p:cNvPr id="28" name="Text 26"/>
            <p:cNvSpPr/>
            <p:nvPr/>
          </p:nvSpPr>
          <p:spPr>
            <a:xfrm>
              <a:off x="999530" y="4681299"/>
              <a:ext cx="5714048" cy="199311"/>
            </a:xfrm>
            <a:prstGeom prst="rect">
              <a:avLst/>
            </a:prstGeom>
            <a:noFill/>
            <a:ln/>
          </p:spPr>
          <p:txBody>
            <a:bodyPr wrap="none" lIns="0" tIns="0" rIns="0" bIns="0" rtlCol="0" anchor="t"/>
            <a:lstStyle/>
            <a:p>
              <a:pPr marL="0" indent="0" algn="r">
                <a:lnSpc>
                  <a:spcPts val="1550"/>
                </a:lnSpc>
                <a:buNone/>
              </a:pPr>
              <a:r>
                <a:rPr lang="en-US" sz="1150" dirty="0">
                  <a:solidFill>
                    <a:srgbClr val="00002E"/>
                  </a:solidFill>
                  <a:latin typeface="PT Sans" pitchFamily="34" charset="0"/>
                  <a:ea typeface="PT Sans" pitchFamily="34" charset="-122"/>
                  <a:cs typeface="PT Sans" pitchFamily="34" charset="-120"/>
                </a:rPr>
                <a:t>Step-by-step development process, ML Development Life Cycle</a:t>
              </a:r>
              <a:endParaRPr lang="en-US" sz="1150" dirty="0"/>
            </a:p>
          </p:txBody>
        </p:sp>
      </p:grpSp>
      <p:grpSp>
        <p:nvGrpSpPr>
          <p:cNvPr id="55" name="Group 54">
            <a:extLst>
              <a:ext uri="{FF2B5EF4-FFF2-40B4-BE49-F238E27FC236}">
                <a16:creationId xmlns:a16="http://schemas.microsoft.com/office/drawing/2014/main" id="{CB201F84-2FED-2ACC-3FE6-B5C442E2C6F1}"/>
              </a:ext>
            </a:extLst>
          </p:cNvPr>
          <p:cNvGrpSpPr/>
          <p:nvPr/>
        </p:nvGrpSpPr>
        <p:grpSpPr>
          <a:xfrm>
            <a:off x="7260253" y="4931450"/>
            <a:ext cx="6532423" cy="1172885"/>
            <a:chOff x="7260253" y="4931450"/>
            <a:chExt cx="6532423" cy="1172885"/>
          </a:xfrm>
        </p:grpSpPr>
        <p:sp>
          <p:nvSpPr>
            <p:cNvPr id="29" name="Shape 27"/>
            <p:cNvSpPr/>
            <p:nvPr/>
          </p:nvSpPr>
          <p:spPr>
            <a:xfrm>
              <a:off x="7299960" y="5510213"/>
              <a:ext cx="439817" cy="15240"/>
            </a:xfrm>
            <a:prstGeom prst="roundRect">
              <a:avLst>
                <a:gd name="adj" fmla="val 1443120"/>
              </a:avLst>
            </a:prstGeom>
            <a:solidFill>
              <a:srgbClr val="F34CD8"/>
            </a:solidFill>
            <a:ln/>
          </p:spPr>
        </p:sp>
        <p:sp>
          <p:nvSpPr>
            <p:cNvPr id="30" name="Shape 28"/>
            <p:cNvSpPr/>
            <p:nvPr/>
          </p:nvSpPr>
          <p:spPr>
            <a:xfrm>
              <a:off x="7260253" y="5462885"/>
              <a:ext cx="109895" cy="109895"/>
            </a:xfrm>
            <a:prstGeom prst="roundRect">
              <a:avLst>
                <a:gd name="adj" fmla="val 416033"/>
              </a:avLst>
            </a:prstGeom>
            <a:solidFill>
              <a:srgbClr val="DA33BF"/>
            </a:solidFill>
            <a:ln/>
          </p:spPr>
        </p:sp>
        <p:sp>
          <p:nvSpPr>
            <p:cNvPr id="31" name="Shape 29"/>
            <p:cNvSpPr/>
            <p:nvPr/>
          </p:nvSpPr>
          <p:spPr>
            <a:xfrm>
              <a:off x="7755017" y="4931450"/>
              <a:ext cx="6037659" cy="1172885"/>
            </a:xfrm>
            <a:prstGeom prst="roundRect">
              <a:avLst>
                <a:gd name="adj" fmla="val 18751"/>
              </a:avLst>
            </a:prstGeom>
            <a:solidFill>
              <a:srgbClr val="F3F3FF"/>
            </a:solidFill>
            <a:ln w="15240">
              <a:solidFill>
                <a:srgbClr val="DA33BF"/>
              </a:solidFill>
              <a:prstDash val="solid"/>
            </a:ln>
          </p:spPr>
        </p:sp>
        <p:sp>
          <p:nvSpPr>
            <p:cNvPr id="32" name="Text 30"/>
            <p:cNvSpPr/>
            <p:nvPr/>
          </p:nvSpPr>
          <p:spPr>
            <a:xfrm>
              <a:off x="7916823" y="5093256"/>
              <a:ext cx="1724858" cy="215622"/>
            </a:xfrm>
            <a:prstGeom prst="rect">
              <a:avLst/>
            </a:prstGeom>
            <a:noFill/>
            <a:ln/>
          </p:spPr>
          <p:txBody>
            <a:bodyPr wrap="none" lIns="0" tIns="0" rIns="0" bIns="0" rtlCol="0" anchor="t"/>
            <a:lstStyle/>
            <a:p>
              <a:pPr marL="0" indent="0" algn="l">
                <a:lnSpc>
                  <a:spcPts val="1650"/>
                </a:lnSpc>
                <a:buNone/>
              </a:pPr>
              <a:r>
                <a:rPr lang="en-US" sz="1350" dirty="0">
                  <a:solidFill>
                    <a:srgbClr val="00002E"/>
                  </a:solidFill>
                  <a:latin typeface="Nunito Semi Bold" pitchFamily="34" charset="0"/>
                </a:rPr>
                <a:t>Core Techniques</a:t>
              </a:r>
              <a:endParaRPr lang="en-US" sz="1350" dirty="0"/>
            </a:p>
          </p:txBody>
        </p:sp>
        <p:sp>
          <p:nvSpPr>
            <p:cNvPr id="33" name="Text 31"/>
            <p:cNvSpPr/>
            <p:nvPr/>
          </p:nvSpPr>
          <p:spPr>
            <a:xfrm>
              <a:off x="7916823" y="5370433"/>
              <a:ext cx="5714048" cy="199311"/>
            </a:xfrm>
            <a:prstGeom prst="rect">
              <a:avLst/>
            </a:prstGeom>
            <a:noFill/>
            <a:ln/>
          </p:spPr>
          <p:txBody>
            <a:bodyPr wrap="none" lIns="0" tIns="0" rIns="0" bIns="0" rtlCol="0" anchor="t"/>
            <a:lstStyle/>
            <a:p>
              <a:pPr marL="0" indent="0" algn="l">
                <a:lnSpc>
                  <a:spcPts val="1550"/>
                </a:lnSpc>
                <a:buNone/>
              </a:pPr>
              <a:r>
                <a:rPr lang="en-US" sz="1150" dirty="0">
                  <a:solidFill>
                    <a:srgbClr val="00002E"/>
                  </a:solidFill>
                  <a:latin typeface="PT Sans" pitchFamily="34" charset="0"/>
                  <a:ea typeface="PT Sans" pitchFamily="34" charset="-122"/>
                  <a:cs typeface="PT Sans" pitchFamily="34" charset="-120"/>
                </a:rPr>
                <a:t>How the recommendation engine works</a:t>
              </a:r>
              <a:endParaRPr lang="en-US" sz="1150" dirty="0"/>
            </a:p>
          </p:txBody>
        </p:sp>
      </p:grpSp>
      <p:grpSp>
        <p:nvGrpSpPr>
          <p:cNvPr id="56" name="Group 55">
            <a:extLst>
              <a:ext uri="{FF2B5EF4-FFF2-40B4-BE49-F238E27FC236}">
                <a16:creationId xmlns:a16="http://schemas.microsoft.com/office/drawing/2014/main" id="{76C83B0A-14A2-4114-0B8D-F1C26B330BFC}"/>
              </a:ext>
            </a:extLst>
          </p:cNvPr>
          <p:cNvGrpSpPr/>
          <p:nvPr/>
        </p:nvGrpSpPr>
        <p:grpSpPr>
          <a:xfrm>
            <a:off x="837724" y="5620583"/>
            <a:ext cx="6532424" cy="1172885"/>
            <a:chOff x="837724" y="5620583"/>
            <a:chExt cx="6532424" cy="1172885"/>
          </a:xfrm>
        </p:grpSpPr>
        <p:sp>
          <p:nvSpPr>
            <p:cNvPr id="34" name="Shape 32"/>
            <p:cNvSpPr/>
            <p:nvPr/>
          </p:nvSpPr>
          <p:spPr>
            <a:xfrm>
              <a:off x="6890623" y="6199346"/>
              <a:ext cx="439817" cy="15240"/>
            </a:xfrm>
            <a:prstGeom prst="roundRect">
              <a:avLst>
                <a:gd name="adj" fmla="val 1443120"/>
              </a:avLst>
            </a:prstGeom>
            <a:solidFill>
              <a:srgbClr val="4666FF"/>
            </a:solidFill>
            <a:ln/>
          </p:spPr>
        </p:sp>
        <p:sp>
          <p:nvSpPr>
            <p:cNvPr id="35" name="Shape 33"/>
            <p:cNvSpPr/>
            <p:nvPr/>
          </p:nvSpPr>
          <p:spPr>
            <a:xfrm>
              <a:off x="7260253" y="6152019"/>
              <a:ext cx="109895" cy="109895"/>
            </a:xfrm>
            <a:prstGeom prst="roundRect">
              <a:avLst>
                <a:gd name="adj" fmla="val 416033"/>
              </a:avLst>
            </a:prstGeom>
            <a:solidFill>
              <a:srgbClr val="2D4DF2"/>
            </a:solidFill>
            <a:ln/>
          </p:spPr>
        </p:sp>
        <p:sp>
          <p:nvSpPr>
            <p:cNvPr id="36" name="Shape 34"/>
            <p:cNvSpPr/>
            <p:nvPr/>
          </p:nvSpPr>
          <p:spPr>
            <a:xfrm>
              <a:off x="837724" y="5620583"/>
              <a:ext cx="6037659" cy="1172885"/>
            </a:xfrm>
            <a:prstGeom prst="roundRect">
              <a:avLst>
                <a:gd name="adj" fmla="val 18751"/>
              </a:avLst>
            </a:prstGeom>
            <a:solidFill>
              <a:srgbClr val="F3F3FF"/>
            </a:solidFill>
            <a:ln w="15240">
              <a:solidFill>
                <a:srgbClr val="2D4DF2"/>
              </a:solidFill>
              <a:prstDash val="solid"/>
            </a:ln>
          </p:spPr>
        </p:sp>
        <p:sp>
          <p:nvSpPr>
            <p:cNvPr id="37" name="Text 35"/>
            <p:cNvSpPr/>
            <p:nvPr/>
          </p:nvSpPr>
          <p:spPr>
            <a:xfrm>
              <a:off x="4988719" y="5782389"/>
              <a:ext cx="1724858" cy="215622"/>
            </a:xfrm>
            <a:prstGeom prst="rect">
              <a:avLst/>
            </a:prstGeom>
            <a:noFill/>
            <a:ln/>
          </p:spPr>
          <p:txBody>
            <a:bodyPr wrap="none" lIns="0" tIns="0" rIns="0" bIns="0" rtlCol="0" anchor="t"/>
            <a:lstStyle/>
            <a:p>
              <a:pPr marL="0" indent="0" algn="r">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Tools &amp; Technologies</a:t>
              </a:r>
              <a:endParaRPr lang="en-US" sz="1350" dirty="0"/>
            </a:p>
          </p:txBody>
        </p:sp>
        <p:sp>
          <p:nvSpPr>
            <p:cNvPr id="38" name="Text 36"/>
            <p:cNvSpPr/>
            <p:nvPr/>
          </p:nvSpPr>
          <p:spPr>
            <a:xfrm>
              <a:off x="999530" y="6059567"/>
              <a:ext cx="5714048" cy="199311"/>
            </a:xfrm>
            <a:prstGeom prst="rect">
              <a:avLst/>
            </a:prstGeom>
            <a:noFill/>
            <a:ln/>
          </p:spPr>
          <p:txBody>
            <a:bodyPr wrap="none" lIns="0" tIns="0" rIns="0" bIns="0" rtlCol="0" anchor="t"/>
            <a:lstStyle/>
            <a:p>
              <a:pPr marL="0" indent="0" algn="r">
                <a:lnSpc>
                  <a:spcPts val="1550"/>
                </a:lnSpc>
                <a:buNone/>
              </a:pPr>
              <a:r>
                <a:rPr lang="en-US" sz="1150" dirty="0">
                  <a:solidFill>
                    <a:srgbClr val="00002E"/>
                  </a:solidFill>
                  <a:latin typeface="PT Sans" pitchFamily="34" charset="0"/>
                  <a:ea typeface="PT Sans" pitchFamily="34" charset="-122"/>
                  <a:cs typeface="PT Sans" pitchFamily="34" charset="-120"/>
                </a:rPr>
                <a:t>Python libraries and development environment</a:t>
              </a:r>
              <a:endParaRPr lang="en-US" sz="1150" dirty="0"/>
            </a:p>
          </p:txBody>
        </p:sp>
      </p:grpSp>
      <p:grpSp>
        <p:nvGrpSpPr>
          <p:cNvPr id="57" name="Group 56">
            <a:extLst>
              <a:ext uri="{FF2B5EF4-FFF2-40B4-BE49-F238E27FC236}">
                <a16:creationId xmlns:a16="http://schemas.microsoft.com/office/drawing/2014/main" id="{7BA2611B-BB0D-3407-8E68-96E0E3F8445A}"/>
              </a:ext>
            </a:extLst>
          </p:cNvPr>
          <p:cNvGrpSpPr/>
          <p:nvPr/>
        </p:nvGrpSpPr>
        <p:grpSpPr>
          <a:xfrm>
            <a:off x="7260253" y="6309717"/>
            <a:ext cx="6532423" cy="1172885"/>
            <a:chOff x="7260253" y="6309717"/>
            <a:chExt cx="6532423" cy="1172885"/>
          </a:xfrm>
        </p:grpSpPr>
        <p:sp>
          <p:nvSpPr>
            <p:cNvPr id="39" name="Shape 37"/>
            <p:cNvSpPr/>
            <p:nvPr/>
          </p:nvSpPr>
          <p:spPr>
            <a:xfrm>
              <a:off x="7299960" y="6888480"/>
              <a:ext cx="439817" cy="15240"/>
            </a:xfrm>
            <a:prstGeom prst="roundRect">
              <a:avLst>
                <a:gd name="adj" fmla="val 1443120"/>
              </a:avLst>
            </a:prstGeom>
            <a:solidFill>
              <a:srgbClr val="1AA5FA"/>
            </a:solidFill>
            <a:ln/>
          </p:spPr>
        </p:sp>
        <p:sp>
          <p:nvSpPr>
            <p:cNvPr id="40" name="Shape 38"/>
            <p:cNvSpPr/>
            <p:nvPr/>
          </p:nvSpPr>
          <p:spPr>
            <a:xfrm>
              <a:off x="7260253" y="6841153"/>
              <a:ext cx="109895" cy="109895"/>
            </a:xfrm>
            <a:prstGeom prst="roundRect">
              <a:avLst>
                <a:gd name="adj" fmla="val 416033"/>
              </a:avLst>
            </a:prstGeom>
            <a:solidFill>
              <a:srgbClr val="018CE1"/>
            </a:solidFill>
            <a:ln/>
          </p:spPr>
        </p:sp>
        <p:sp>
          <p:nvSpPr>
            <p:cNvPr id="41" name="Shape 39"/>
            <p:cNvSpPr/>
            <p:nvPr/>
          </p:nvSpPr>
          <p:spPr>
            <a:xfrm>
              <a:off x="7755017" y="6309717"/>
              <a:ext cx="6037659" cy="1172885"/>
            </a:xfrm>
            <a:prstGeom prst="roundRect">
              <a:avLst>
                <a:gd name="adj" fmla="val 18751"/>
              </a:avLst>
            </a:prstGeom>
            <a:solidFill>
              <a:srgbClr val="F3F3FF"/>
            </a:solidFill>
            <a:ln w="15240">
              <a:solidFill>
                <a:srgbClr val="018CE1"/>
              </a:solidFill>
              <a:prstDash val="solid"/>
            </a:ln>
          </p:spPr>
        </p:sp>
        <p:sp>
          <p:nvSpPr>
            <p:cNvPr id="42" name="Text 40"/>
            <p:cNvSpPr/>
            <p:nvPr/>
          </p:nvSpPr>
          <p:spPr>
            <a:xfrm>
              <a:off x="7916823" y="6471523"/>
              <a:ext cx="2601635" cy="215622"/>
            </a:xfrm>
            <a:prstGeom prst="rect">
              <a:avLst/>
            </a:prstGeom>
            <a:noFill/>
            <a:ln/>
          </p:spPr>
          <p:txBody>
            <a:bodyPr wrap="none" lIns="0" tIns="0" rIns="0" bIns="0" rtlCol="0" anchor="t"/>
            <a:lstStyle/>
            <a:p>
              <a:pPr marL="0" indent="0" algn="l">
                <a:lnSpc>
                  <a:spcPts val="1650"/>
                </a:lnSpc>
                <a:buNone/>
              </a:pPr>
              <a:r>
                <a:rPr lang="en-US" sz="1350" dirty="0">
                  <a:solidFill>
                    <a:srgbClr val="00002E"/>
                  </a:solidFill>
                  <a:latin typeface="Nunito Semi Bold" pitchFamily="34" charset="0"/>
                  <a:ea typeface="Nunito Semi Bold" pitchFamily="34" charset="-122"/>
                  <a:cs typeface="Nunito Semi Bold" pitchFamily="34" charset="-120"/>
                </a:rPr>
                <a:t>Expected Results &amp; Future Scope</a:t>
              </a:r>
              <a:endParaRPr lang="en-US" sz="1350" dirty="0"/>
            </a:p>
          </p:txBody>
        </p:sp>
        <p:sp>
          <p:nvSpPr>
            <p:cNvPr id="43" name="Text 41"/>
            <p:cNvSpPr/>
            <p:nvPr/>
          </p:nvSpPr>
          <p:spPr>
            <a:xfrm>
              <a:off x="7916823" y="6748701"/>
              <a:ext cx="5714048" cy="199311"/>
            </a:xfrm>
            <a:prstGeom prst="rect">
              <a:avLst/>
            </a:prstGeom>
            <a:noFill/>
            <a:ln/>
          </p:spPr>
          <p:txBody>
            <a:bodyPr wrap="none" lIns="0" tIns="0" rIns="0" bIns="0" rtlCol="0" anchor="t"/>
            <a:lstStyle/>
            <a:p>
              <a:pPr marL="0" indent="0" algn="l">
                <a:lnSpc>
                  <a:spcPts val="1550"/>
                </a:lnSpc>
                <a:buNone/>
              </a:pPr>
              <a:r>
                <a:rPr lang="en-US" sz="1150" dirty="0">
                  <a:solidFill>
                    <a:srgbClr val="00002E"/>
                  </a:solidFill>
                  <a:latin typeface="PT Sans" pitchFamily="34" charset="0"/>
                  <a:ea typeface="PT Sans" pitchFamily="34" charset="-122"/>
                  <a:cs typeface="PT Sans" pitchFamily="34" charset="-120"/>
                </a:rPr>
                <a:t>Output demonstration and potential improvements</a:t>
              </a:r>
              <a:endParaRPr lang="en-US" sz="1150" dirty="0"/>
            </a:p>
          </p:txBody>
        </p:sp>
      </p:grpSp>
      <p:sp>
        <p:nvSpPr>
          <p:cNvPr id="44" name="Watermark">
            <a:extLst>
              <a:ext uri="{FF2B5EF4-FFF2-40B4-BE49-F238E27FC236}">
                <a16:creationId xmlns:a16="http://schemas.microsoft.com/office/drawing/2014/main" id="{A321DEAA-0F76-2071-16BE-590EFF6FD1C2}"/>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Google Shape;121;p16">
            <a:extLst>
              <a:ext uri="{FF2B5EF4-FFF2-40B4-BE49-F238E27FC236}">
                <a16:creationId xmlns:a16="http://schemas.microsoft.com/office/drawing/2014/main" id="{7103F2F9-1A2A-EA92-2F92-34440D0E6E5E}"/>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2</a:t>
            </a:fld>
            <a:endParaRPr sz="1600" b="0" i="0" u="none" strike="noStrike" cap="none" dirty="0">
              <a:solidFill>
                <a:srgbClr val="757575"/>
              </a:solidFill>
              <a:latin typeface="Nunito" pitchFamily="2" charset="0"/>
              <a:ea typeface="Arial"/>
              <a:cs typeface="Arial"/>
              <a:sym typeface="Arial"/>
            </a:endParaRPr>
          </a:p>
        </p:txBody>
      </p:sp>
      <p:grpSp>
        <p:nvGrpSpPr>
          <p:cNvPr id="52" name="Group 51">
            <a:extLst>
              <a:ext uri="{FF2B5EF4-FFF2-40B4-BE49-F238E27FC236}">
                <a16:creationId xmlns:a16="http://schemas.microsoft.com/office/drawing/2014/main" id="{45407430-E50B-8ECE-4344-B0C67BA8F1E8}"/>
              </a:ext>
            </a:extLst>
          </p:cNvPr>
          <p:cNvGrpSpPr/>
          <p:nvPr/>
        </p:nvGrpSpPr>
        <p:grpSpPr>
          <a:xfrm>
            <a:off x="11984501" y="198004"/>
            <a:ext cx="2348508" cy="803700"/>
            <a:chOff x="11965987" y="253625"/>
            <a:chExt cx="2348508" cy="803700"/>
          </a:xfrm>
        </p:grpSpPr>
        <p:pic>
          <p:nvPicPr>
            <p:cNvPr id="50" name="Picture 6" descr="Galgotias-University-Logo | EROCON">
              <a:extLst>
                <a:ext uri="{FF2B5EF4-FFF2-40B4-BE49-F238E27FC236}">
                  <a16:creationId xmlns:a16="http://schemas.microsoft.com/office/drawing/2014/main" id="{7289418D-6BC2-A725-0AB1-84B5F519E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8DB04DE8-512B-9365-ADBF-BD8B98AD4A40}"/>
                </a:ext>
              </a:extLst>
            </p:cNvPr>
            <p:cNvPicPr>
              <a:picLocks noChangeAspect="1"/>
            </p:cNvPicPr>
            <p:nvPr/>
          </p:nvPicPr>
          <p:blipFill>
            <a:blip r:embed="rId4"/>
            <a:srcRect l="885" t="847" r="1416" b="805"/>
            <a:stretch>
              <a:fillRect/>
            </a:stretch>
          </p:blipFill>
          <p:spPr>
            <a:xfrm>
              <a:off x="13543389" y="253625"/>
              <a:ext cx="771106" cy="803700"/>
            </a:xfrm>
            <a:prstGeom prst="rect">
              <a:avLst/>
            </a:prstGeom>
          </p:spPr>
        </p:pic>
      </p:grpSp>
      <p:sp>
        <p:nvSpPr>
          <p:cNvPr id="53" name="Google Shape;121;p16">
            <a:extLst>
              <a:ext uri="{FF2B5EF4-FFF2-40B4-BE49-F238E27FC236}">
                <a16:creationId xmlns:a16="http://schemas.microsoft.com/office/drawing/2014/main" id="{398735FD-D2E0-1AFA-A23C-C7D8CBAB587B}"/>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0-#ppt_w/2"/>
                                          </p:val>
                                        </p:tav>
                                        <p:tav tm="100000">
                                          <p:val>
                                            <p:strVal val="#ppt_x"/>
                                          </p:val>
                                        </p:tav>
                                      </p:tavLst>
                                    </p:anim>
                                    <p:anim calcmode="lin" valueType="num">
                                      <p:cBhvr additive="base">
                                        <p:cTn id="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1+#ppt_w/2"/>
                                          </p:val>
                                        </p:tav>
                                        <p:tav tm="100000">
                                          <p:val>
                                            <p:strVal val="#ppt_x"/>
                                          </p:val>
                                        </p:tav>
                                      </p:tavLst>
                                    </p:anim>
                                    <p:anim calcmode="lin" valueType="num">
                                      <p:cBhvr additive="base">
                                        <p:cTn id="14"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0-#ppt_w/2"/>
                                          </p:val>
                                        </p:tav>
                                        <p:tav tm="100000">
                                          <p:val>
                                            <p:strVal val="#ppt_x"/>
                                          </p:val>
                                        </p:tav>
                                      </p:tavLst>
                                    </p:anim>
                                    <p:anim calcmode="lin" valueType="num">
                                      <p:cBhvr additive="base">
                                        <p:cTn id="2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anim calcmode="lin" valueType="num">
                                      <p:cBhvr additive="base">
                                        <p:cTn id="25" dur="500" fill="hold"/>
                                        <p:tgtEl>
                                          <p:spTgt spid="49"/>
                                        </p:tgtEl>
                                        <p:attrNameLst>
                                          <p:attrName>ppt_x</p:attrName>
                                        </p:attrNameLst>
                                      </p:cBhvr>
                                      <p:tavLst>
                                        <p:tav tm="0">
                                          <p:val>
                                            <p:strVal val="1+#ppt_w/2"/>
                                          </p:val>
                                        </p:tav>
                                        <p:tav tm="100000">
                                          <p:val>
                                            <p:strVal val="#ppt_x"/>
                                          </p:val>
                                        </p:tav>
                                      </p:tavLst>
                                    </p:anim>
                                    <p:anim calcmode="lin" valueType="num">
                                      <p:cBhvr additive="base">
                                        <p:cTn id="26"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0-#ppt_w/2"/>
                                          </p:val>
                                        </p:tav>
                                        <p:tav tm="100000">
                                          <p:val>
                                            <p:strVal val="#ppt_x"/>
                                          </p:val>
                                        </p:tav>
                                      </p:tavLst>
                                    </p:anim>
                                    <p:anim calcmode="lin" valueType="num">
                                      <p:cBhvr additive="base">
                                        <p:cTn id="32"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1+#ppt_w/2"/>
                                          </p:val>
                                        </p:tav>
                                        <p:tav tm="100000">
                                          <p:val>
                                            <p:strVal val="#ppt_x"/>
                                          </p:val>
                                        </p:tav>
                                      </p:tavLst>
                                    </p:anim>
                                    <p:anim calcmode="lin" valueType="num">
                                      <p:cBhvr additive="base">
                                        <p:cTn id="38"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0-#ppt_w/2"/>
                                          </p:val>
                                        </p:tav>
                                        <p:tav tm="100000">
                                          <p:val>
                                            <p:strVal val="#ppt_x"/>
                                          </p:val>
                                        </p:tav>
                                      </p:tavLst>
                                    </p:anim>
                                    <p:anim calcmode="lin" valueType="num">
                                      <p:cBhvr additive="base">
                                        <p:cTn id="44"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additive="base">
                                        <p:cTn id="49" dur="500" fill="hold"/>
                                        <p:tgtEl>
                                          <p:spTgt spid="57"/>
                                        </p:tgtEl>
                                        <p:attrNameLst>
                                          <p:attrName>ppt_x</p:attrName>
                                        </p:attrNameLst>
                                      </p:cBhvr>
                                      <p:tavLst>
                                        <p:tav tm="0">
                                          <p:val>
                                            <p:strVal val="1+#ppt_w/2"/>
                                          </p:val>
                                        </p:tav>
                                        <p:tav tm="100000">
                                          <p:val>
                                            <p:strVal val="#ppt_x"/>
                                          </p:val>
                                        </p:tav>
                                      </p:tavLst>
                                    </p:anim>
                                    <p:anim calcmode="lin" valueType="num">
                                      <p:cBhvr additive="base">
                                        <p:cTn id="50"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994648"/>
            <a:ext cx="5922407" cy="492681"/>
          </a:xfrm>
          <a:prstGeom prst="rect">
            <a:avLst/>
          </a:prstGeom>
          <a:noFill/>
          <a:ln/>
        </p:spPr>
        <p:txBody>
          <a:bodyPr wrap="none" lIns="0" tIns="0" rIns="0" bIns="0" rtlCol="0" anchor="t"/>
          <a:lstStyle/>
          <a:p>
            <a:pPr marL="0" indent="0" algn="l">
              <a:lnSpc>
                <a:spcPts val="3850"/>
              </a:lnSpc>
              <a:buNone/>
            </a:pPr>
            <a:r>
              <a:rPr lang="en-US" sz="3100" dirty="0">
                <a:solidFill>
                  <a:srgbClr val="00002E"/>
                </a:solidFill>
                <a:latin typeface="Nunito Semi Bold" pitchFamily="34" charset="0"/>
                <a:ea typeface="Nunito Semi Bold" pitchFamily="34" charset="-122"/>
                <a:cs typeface="Nunito Semi Bold" pitchFamily="34" charset="-120"/>
              </a:rPr>
              <a:t>Introduction to Machine Learning</a:t>
            </a:r>
            <a:endParaRPr lang="en-US" sz="3100" dirty="0"/>
          </a:p>
        </p:txBody>
      </p:sp>
      <p:sp>
        <p:nvSpPr>
          <p:cNvPr id="3" name="Text 1"/>
          <p:cNvSpPr/>
          <p:nvPr/>
        </p:nvSpPr>
        <p:spPr>
          <a:xfrm>
            <a:off x="837724" y="1755338"/>
            <a:ext cx="12954952" cy="482441"/>
          </a:xfrm>
          <a:prstGeom prst="rect">
            <a:avLst/>
          </a:prstGeom>
          <a:noFill/>
          <a:ln/>
        </p:spPr>
        <p:txBody>
          <a:bodyPr wrap="squar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Machine Learning is a transformative field of </a:t>
            </a:r>
            <a:r>
              <a:rPr lang="en-US" sz="1300" b="1" dirty="0">
                <a:solidFill>
                  <a:srgbClr val="00002E"/>
                </a:solidFill>
                <a:latin typeface="PT Sans" pitchFamily="34" charset="0"/>
                <a:ea typeface="PT Sans" pitchFamily="34" charset="-122"/>
                <a:cs typeface="PT Sans" pitchFamily="34" charset="-120"/>
              </a:rPr>
              <a:t>Artificial Intelligence that enables computers to learn patterns from data and make predictions without explicit programming</a:t>
            </a:r>
            <a:r>
              <a:rPr lang="en-US" sz="1300" dirty="0">
                <a:solidFill>
                  <a:srgbClr val="00002E"/>
                </a:solidFill>
                <a:latin typeface="PT Sans" pitchFamily="34" charset="0"/>
                <a:ea typeface="PT Sans" pitchFamily="34" charset="-122"/>
                <a:cs typeface="PT Sans" pitchFamily="34" charset="-120"/>
              </a:rPr>
              <a:t>. Rather than following rigid instructions, ML systems identify patterns and relationships in data, improving their performance through experience.</a:t>
            </a:r>
            <a:endParaRPr lang="en-US" sz="1300" dirty="0"/>
          </a:p>
        </p:txBody>
      </p:sp>
      <p:sp>
        <p:nvSpPr>
          <p:cNvPr id="4" name="Text 2"/>
          <p:cNvSpPr/>
          <p:nvPr/>
        </p:nvSpPr>
        <p:spPr>
          <a:xfrm>
            <a:off x="837724" y="2438757"/>
            <a:ext cx="2664500" cy="295632"/>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Real-World Applications</a:t>
            </a:r>
            <a:endParaRPr lang="en-US" sz="1850" dirty="0"/>
          </a:p>
        </p:txBody>
      </p:sp>
      <p:sp>
        <p:nvSpPr>
          <p:cNvPr id="5" name="Text 3"/>
          <p:cNvSpPr/>
          <p:nvPr/>
        </p:nvSpPr>
        <p:spPr>
          <a:xfrm>
            <a:off x="837724" y="2935367"/>
            <a:ext cx="12954952" cy="241221"/>
          </a:xfrm>
          <a:prstGeom prst="rect">
            <a:avLst/>
          </a:prstGeom>
          <a:noFill/>
          <a:ln/>
        </p:spPr>
        <p:txBody>
          <a:bodyPr wrap="non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Machine Learning powers recommendation systems across major platforms, creating personalized experiences for millions of users daily:</a:t>
            </a:r>
            <a:endParaRPr lang="en-US" sz="1300" dirty="0"/>
          </a:p>
        </p:txBody>
      </p:sp>
      <p:sp>
        <p:nvSpPr>
          <p:cNvPr id="6" name="Shape 4"/>
          <p:cNvSpPr/>
          <p:nvPr/>
        </p:nvSpPr>
        <p:spPr>
          <a:xfrm>
            <a:off x="837724" y="3327321"/>
            <a:ext cx="6410444" cy="1811417"/>
          </a:xfrm>
          <a:prstGeom prst="roundRect">
            <a:avLst>
              <a:gd name="adj" fmla="val 13876"/>
            </a:avLst>
          </a:prstGeom>
          <a:solidFill>
            <a:srgbClr val="F3F3FF"/>
          </a:solidFill>
          <a:ln w="15240">
            <a:solidFill>
              <a:srgbClr val="2D4DF2"/>
            </a:solidFill>
            <a:prstDash val="solid"/>
          </a:ln>
        </p:spPr>
      </p:sp>
      <p:sp>
        <p:nvSpPr>
          <p:cNvPr id="9" name="Text 6"/>
          <p:cNvSpPr/>
          <p:nvPr/>
        </p:nvSpPr>
        <p:spPr>
          <a:xfrm>
            <a:off x="1020485" y="4146709"/>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00002E"/>
                </a:solidFill>
                <a:latin typeface="Nunito Semi Bold" pitchFamily="34" charset="0"/>
                <a:ea typeface="Nunito Semi Bold" pitchFamily="34" charset="-122"/>
                <a:cs typeface="Nunito Semi Bold" pitchFamily="34" charset="-120"/>
              </a:rPr>
              <a:t>Netflix</a:t>
            </a:r>
            <a:endParaRPr lang="en-US" sz="1550" dirty="0"/>
          </a:p>
        </p:txBody>
      </p:sp>
      <p:sp>
        <p:nvSpPr>
          <p:cNvPr id="10" name="Text 7"/>
          <p:cNvSpPr/>
          <p:nvPr/>
        </p:nvSpPr>
        <p:spPr>
          <a:xfrm>
            <a:off x="1020485" y="4473535"/>
            <a:ext cx="6044922" cy="482441"/>
          </a:xfrm>
          <a:prstGeom prst="rect">
            <a:avLst/>
          </a:prstGeom>
          <a:noFill/>
          <a:ln/>
        </p:spPr>
        <p:txBody>
          <a:bodyPr wrap="squar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Personalized movie and show recommendations based on viewing history and preferences</a:t>
            </a:r>
            <a:endParaRPr lang="en-US" sz="1300" dirty="0"/>
          </a:p>
        </p:txBody>
      </p:sp>
      <p:sp>
        <p:nvSpPr>
          <p:cNvPr id="11" name="Shape 8"/>
          <p:cNvSpPr/>
          <p:nvPr/>
        </p:nvSpPr>
        <p:spPr>
          <a:xfrm>
            <a:off x="7382113" y="3327321"/>
            <a:ext cx="6410563" cy="1811417"/>
          </a:xfrm>
          <a:prstGeom prst="roundRect">
            <a:avLst>
              <a:gd name="adj" fmla="val 13876"/>
            </a:avLst>
          </a:prstGeom>
          <a:solidFill>
            <a:srgbClr val="F3F3FF"/>
          </a:solidFill>
          <a:ln w="15240">
            <a:solidFill>
              <a:srgbClr val="018CE1"/>
            </a:solidFill>
            <a:prstDash val="solid"/>
          </a:ln>
        </p:spPr>
      </p:sp>
      <p:sp>
        <p:nvSpPr>
          <p:cNvPr id="12" name="Shape 9"/>
          <p:cNvSpPr/>
          <p:nvPr/>
        </p:nvSpPr>
        <p:spPr>
          <a:xfrm>
            <a:off x="7564874" y="3510082"/>
            <a:ext cx="502682" cy="502682"/>
          </a:xfrm>
          <a:prstGeom prst="roundRect">
            <a:avLst>
              <a:gd name="adj" fmla="val 18188608"/>
            </a:avLst>
          </a:prstGeom>
          <a:solidFill>
            <a:srgbClr val="018CE1"/>
          </a:solidFill>
          <a:ln/>
        </p:spPr>
      </p:sp>
      <p:sp>
        <p:nvSpPr>
          <p:cNvPr id="14" name="Text 10"/>
          <p:cNvSpPr/>
          <p:nvPr/>
        </p:nvSpPr>
        <p:spPr>
          <a:xfrm>
            <a:off x="7564874" y="4146709"/>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00002E"/>
                </a:solidFill>
                <a:latin typeface="Nunito Semi Bold" pitchFamily="34" charset="0"/>
                <a:ea typeface="Nunito Semi Bold" pitchFamily="34" charset="-122"/>
                <a:cs typeface="Nunito Semi Bold" pitchFamily="34" charset="-120"/>
              </a:rPr>
              <a:t>Amazon</a:t>
            </a:r>
            <a:endParaRPr lang="en-US" sz="1550" dirty="0"/>
          </a:p>
        </p:txBody>
      </p:sp>
      <p:sp>
        <p:nvSpPr>
          <p:cNvPr id="15" name="Text 11"/>
          <p:cNvSpPr/>
          <p:nvPr/>
        </p:nvSpPr>
        <p:spPr>
          <a:xfrm>
            <a:off x="7564874" y="4473535"/>
            <a:ext cx="6045041" cy="241221"/>
          </a:xfrm>
          <a:prstGeom prst="rect">
            <a:avLst/>
          </a:prstGeom>
          <a:noFill/>
          <a:ln/>
        </p:spPr>
        <p:txBody>
          <a:bodyPr wrap="non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Product suggestions tailored to shopping behavior and browsing patterns</a:t>
            </a:r>
            <a:endParaRPr lang="en-US" sz="1300" dirty="0"/>
          </a:p>
        </p:txBody>
      </p:sp>
      <p:sp>
        <p:nvSpPr>
          <p:cNvPr id="16" name="Shape 12"/>
          <p:cNvSpPr/>
          <p:nvPr/>
        </p:nvSpPr>
        <p:spPr>
          <a:xfrm>
            <a:off x="837724" y="5272683"/>
            <a:ext cx="6410444" cy="1570196"/>
          </a:xfrm>
          <a:prstGeom prst="roundRect">
            <a:avLst>
              <a:gd name="adj" fmla="val 16008"/>
            </a:avLst>
          </a:prstGeom>
          <a:solidFill>
            <a:srgbClr val="F3F3FF"/>
          </a:solidFill>
          <a:ln w="15240">
            <a:solidFill>
              <a:srgbClr val="DA33BF"/>
            </a:solidFill>
            <a:prstDash val="solid"/>
          </a:ln>
        </p:spPr>
      </p:sp>
      <p:sp>
        <p:nvSpPr>
          <p:cNvPr id="17" name="Shape 13"/>
          <p:cNvSpPr/>
          <p:nvPr/>
        </p:nvSpPr>
        <p:spPr>
          <a:xfrm>
            <a:off x="1020485" y="5455444"/>
            <a:ext cx="502682" cy="502682"/>
          </a:xfrm>
          <a:prstGeom prst="roundRect">
            <a:avLst>
              <a:gd name="adj" fmla="val 18188608"/>
            </a:avLst>
          </a:prstGeom>
          <a:solidFill>
            <a:srgbClr val="FF0000"/>
          </a:solidFill>
          <a:ln/>
        </p:spPr>
      </p:sp>
      <p:pic>
        <p:nvPicPr>
          <p:cNvPr id="18"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8716" y="5593675"/>
            <a:ext cx="226100" cy="226100"/>
          </a:xfrm>
          <a:prstGeom prst="rect">
            <a:avLst/>
          </a:prstGeom>
        </p:spPr>
      </p:pic>
      <p:sp>
        <p:nvSpPr>
          <p:cNvPr id="19" name="Text 14"/>
          <p:cNvSpPr/>
          <p:nvPr/>
        </p:nvSpPr>
        <p:spPr>
          <a:xfrm>
            <a:off x="1020485" y="6092071"/>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00002E"/>
                </a:solidFill>
                <a:latin typeface="Nunito Semi Bold" pitchFamily="34" charset="0"/>
                <a:ea typeface="Nunito Semi Bold" pitchFamily="34" charset="-122"/>
                <a:cs typeface="Nunito Semi Bold" pitchFamily="34" charset="-120"/>
              </a:rPr>
              <a:t>YouTube</a:t>
            </a:r>
            <a:endParaRPr lang="en-US" sz="1550" dirty="0"/>
          </a:p>
        </p:txBody>
      </p:sp>
      <p:sp>
        <p:nvSpPr>
          <p:cNvPr id="20" name="Text 15"/>
          <p:cNvSpPr/>
          <p:nvPr/>
        </p:nvSpPr>
        <p:spPr>
          <a:xfrm>
            <a:off x="1020485" y="6418898"/>
            <a:ext cx="6044922" cy="241221"/>
          </a:xfrm>
          <a:prstGeom prst="rect">
            <a:avLst/>
          </a:prstGeom>
          <a:noFill/>
          <a:ln/>
        </p:spPr>
        <p:txBody>
          <a:bodyPr wrap="non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Video recommendations based on watch history, likes, and engagement metrics</a:t>
            </a:r>
            <a:endParaRPr lang="en-US" sz="1300" dirty="0"/>
          </a:p>
        </p:txBody>
      </p:sp>
      <p:sp>
        <p:nvSpPr>
          <p:cNvPr id="21" name="Shape 16"/>
          <p:cNvSpPr/>
          <p:nvPr/>
        </p:nvSpPr>
        <p:spPr>
          <a:xfrm>
            <a:off x="7382113" y="5272683"/>
            <a:ext cx="6410563" cy="1570196"/>
          </a:xfrm>
          <a:prstGeom prst="roundRect">
            <a:avLst>
              <a:gd name="adj" fmla="val 16008"/>
            </a:avLst>
          </a:prstGeom>
          <a:solidFill>
            <a:srgbClr val="F3F3FF"/>
          </a:solidFill>
          <a:ln w="15240">
            <a:solidFill>
              <a:srgbClr val="2D4DF2"/>
            </a:solidFill>
            <a:prstDash val="solid"/>
          </a:ln>
        </p:spPr>
      </p:sp>
      <p:sp>
        <p:nvSpPr>
          <p:cNvPr id="22" name="Shape 17"/>
          <p:cNvSpPr/>
          <p:nvPr/>
        </p:nvSpPr>
        <p:spPr>
          <a:xfrm>
            <a:off x="7564874" y="5455444"/>
            <a:ext cx="502682" cy="502682"/>
          </a:xfrm>
          <a:prstGeom prst="roundRect">
            <a:avLst>
              <a:gd name="adj" fmla="val 18188608"/>
            </a:avLst>
          </a:prstGeom>
          <a:solidFill>
            <a:srgbClr val="92D050"/>
          </a:solidFill>
          <a:ln/>
        </p:spPr>
      </p:sp>
      <p:pic>
        <p:nvPicPr>
          <p:cNvPr id="23"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03106" y="5593675"/>
            <a:ext cx="226100" cy="226100"/>
          </a:xfrm>
          <a:prstGeom prst="rect">
            <a:avLst/>
          </a:prstGeom>
        </p:spPr>
      </p:pic>
      <p:sp>
        <p:nvSpPr>
          <p:cNvPr id="24" name="Text 18"/>
          <p:cNvSpPr/>
          <p:nvPr/>
        </p:nvSpPr>
        <p:spPr>
          <a:xfrm>
            <a:off x="7564874" y="6092071"/>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00002E"/>
                </a:solidFill>
                <a:latin typeface="Nunito Semi Bold" pitchFamily="34" charset="0"/>
                <a:ea typeface="Nunito Semi Bold" pitchFamily="34" charset="-122"/>
                <a:cs typeface="Nunito Semi Bold" pitchFamily="34" charset="-120"/>
              </a:rPr>
              <a:t>Spotify</a:t>
            </a:r>
            <a:endParaRPr lang="en-US" sz="1550" dirty="0"/>
          </a:p>
        </p:txBody>
      </p:sp>
      <p:sp>
        <p:nvSpPr>
          <p:cNvPr id="25" name="Text 19"/>
          <p:cNvSpPr/>
          <p:nvPr/>
        </p:nvSpPr>
        <p:spPr>
          <a:xfrm>
            <a:off x="7564874" y="6418898"/>
            <a:ext cx="6045041" cy="241221"/>
          </a:xfrm>
          <a:prstGeom prst="rect">
            <a:avLst/>
          </a:prstGeom>
          <a:noFill/>
          <a:ln/>
        </p:spPr>
        <p:txBody>
          <a:bodyPr wrap="non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Music discovery and playlist generation based on listening habits and preferences</a:t>
            </a:r>
            <a:endParaRPr lang="en-US" sz="1300" dirty="0"/>
          </a:p>
        </p:txBody>
      </p:sp>
      <p:sp>
        <p:nvSpPr>
          <p:cNvPr id="26" name="Text 20"/>
          <p:cNvSpPr/>
          <p:nvPr/>
        </p:nvSpPr>
        <p:spPr>
          <a:xfrm>
            <a:off x="837724" y="6993612"/>
            <a:ext cx="12954952" cy="241221"/>
          </a:xfrm>
          <a:prstGeom prst="rect">
            <a:avLst/>
          </a:prstGeom>
          <a:noFill/>
          <a:ln/>
        </p:spPr>
        <p:txBody>
          <a:bodyPr wrap="none" lIns="0" tIns="0" rIns="0" bIns="0" rtlCol="0" anchor="t"/>
          <a:lstStyle/>
          <a:p>
            <a:pPr marL="0" indent="0" algn="l">
              <a:lnSpc>
                <a:spcPts val="1850"/>
              </a:lnSpc>
              <a:buNone/>
            </a:pPr>
            <a:r>
              <a:rPr lang="en-US" sz="1300" dirty="0">
                <a:solidFill>
                  <a:srgbClr val="00002E"/>
                </a:solidFill>
                <a:latin typeface="PT Sans" pitchFamily="34" charset="0"/>
                <a:ea typeface="PT Sans" pitchFamily="34" charset="-122"/>
                <a:cs typeface="PT Sans" pitchFamily="34" charset="-120"/>
              </a:rPr>
              <a:t>This course focuses on </a:t>
            </a:r>
            <a:r>
              <a:rPr lang="en-US" sz="1300" b="1" dirty="0">
                <a:solidFill>
                  <a:srgbClr val="00002E"/>
                </a:solidFill>
                <a:latin typeface="PT Sans" pitchFamily="34" charset="0"/>
                <a:ea typeface="PT Sans" pitchFamily="34" charset="-122"/>
                <a:cs typeface="PT Sans" pitchFamily="34" charset="-120"/>
              </a:rPr>
              <a:t>developing algorithms that identify patterns and make predictions from data using Python</a:t>
            </a:r>
            <a:r>
              <a:rPr lang="en-US" sz="1300" dirty="0">
                <a:solidFill>
                  <a:srgbClr val="00002E"/>
                </a:solidFill>
                <a:latin typeface="PT Sans" pitchFamily="34" charset="0"/>
                <a:ea typeface="PT Sans" pitchFamily="34" charset="-122"/>
                <a:cs typeface="PT Sans" pitchFamily="34" charset="-120"/>
              </a:rPr>
              <a:t>, aligning with practical applications in industry and research.</a:t>
            </a:r>
            <a:endParaRPr lang="en-US" sz="1300" dirty="0"/>
          </a:p>
        </p:txBody>
      </p:sp>
      <p:sp>
        <p:nvSpPr>
          <p:cNvPr id="27" name="Watermark">
            <a:extLst>
              <a:ext uri="{FF2B5EF4-FFF2-40B4-BE49-F238E27FC236}">
                <a16:creationId xmlns:a16="http://schemas.microsoft.com/office/drawing/2014/main" id="{2D5C295C-77E2-3C12-F586-76FB882B3016}"/>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Google Shape;121;p16">
            <a:extLst>
              <a:ext uri="{FF2B5EF4-FFF2-40B4-BE49-F238E27FC236}">
                <a16:creationId xmlns:a16="http://schemas.microsoft.com/office/drawing/2014/main" id="{061FCD04-DAE0-3043-AF7D-0C931808D9FE}"/>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3</a:t>
            </a:fld>
            <a:endParaRPr sz="1600" b="0" i="0" u="none" strike="noStrike" cap="none" dirty="0">
              <a:solidFill>
                <a:srgbClr val="757575"/>
              </a:solidFill>
              <a:latin typeface="Nunito" pitchFamily="2" charset="0"/>
              <a:ea typeface="Arial"/>
              <a:cs typeface="Arial"/>
              <a:sym typeface="Arial"/>
            </a:endParaRPr>
          </a:p>
        </p:txBody>
      </p:sp>
      <p:grpSp>
        <p:nvGrpSpPr>
          <p:cNvPr id="33" name="Group 32">
            <a:extLst>
              <a:ext uri="{FF2B5EF4-FFF2-40B4-BE49-F238E27FC236}">
                <a16:creationId xmlns:a16="http://schemas.microsoft.com/office/drawing/2014/main" id="{827F5EEA-0544-BA4E-6462-E0E055A8198D}"/>
              </a:ext>
            </a:extLst>
          </p:cNvPr>
          <p:cNvGrpSpPr/>
          <p:nvPr/>
        </p:nvGrpSpPr>
        <p:grpSpPr>
          <a:xfrm>
            <a:off x="11984501" y="198004"/>
            <a:ext cx="2348508" cy="803700"/>
            <a:chOff x="11965987" y="253625"/>
            <a:chExt cx="2348508" cy="803700"/>
          </a:xfrm>
        </p:grpSpPr>
        <p:pic>
          <p:nvPicPr>
            <p:cNvPr id="34" name="Picture 6" descr="Galgotias-University-Logo | EROCON">
              <a:extLst>
                <a:ext uri="{FF2B5EF4-FFF2-40B4-BE49-F238E27FC236}">
                  <a16:creationId xmlns:a16="http://schemas.microsoft.com/office/drawing/2014/main" id="{B6AC6A7E-97FC-4259-2F0A-C6A0C7365B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D6C45925-0BFF-0D6E-AF38-B6C57ABF4E71}"/>
                </a:ext>
              </a:extLst>
            </p:cNvPr>
            <p:cNvPicPr>
              <a:picLocks noChangeAspect="1"/>
            </p:cNvPicPr>
            <p:nvPr/>
          </p:nvPicPr>
          <p:blipFill>
            <a:blip r:embed="rId8"/>
            <a:srcRect l="885" t="847" r="1416" b="805"/>
            <a:stretch>
              <a:fillRect/>
            </a:stretch>
          </p:blipFill>
          <p:spPr>
            <a:xfrm>
              <a:off x="13543389" y="253625"/>
              <a:ext cx="771106" cy="803700"/>
            </a:xfrm>
            <a:prstGeom prst="rect">
              <a:avLst/>
            </a:prstGeom>
          </p:spPr>
        </p:pic>
      </p:grpSp>
      <p:sp>
        <p:nvSpPr>
          <p:cNvPr id="36" name="Google Shape;121;p16">
            <a:extLst>
              <a:ext uri="{FF2B5EF4-FFF2-40B4-BE49-F238E27FC236}">
                <a16:creationId xmlns:a16="http://schemas.microsoft.com/office/drawing/2014/main" id="{96575B84-DE51-82EF-C6D2-69CA65A36B56}"/>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
        <p:nvSpPr>
          <p:cNvPr id="29" name="Shape 9">
            <a:extLst>
              <a:ext uri="{FF2B5EF4-FFF2-40B4-BE49-F238E27FC236}">
                <a16:creationId xmlns:a16="http://schemas.microsoft.com/office/drawing/2014/main" id="{BFF2C143-023B-4B9F-1EA8-35FCE0610D16}"/>
              </a:ext>
            </a:extLst>
          </p:cNvPr>
          <p:cNvSpPr/>
          <p:nvPr/>
        </p:nvSpPr>
        <p:spPr>
          <a:xfrm>
            <a:off x="1028540" y="3518059"/>
            <a:ext cx="502682" cy="502682"/>
          </a:xfrm>
          <a:prstGeom prst="roundRect">
            <a:avLst>
              <a:gd name="adj" fmla="val 18188608"/>
            </a:avLst>
          </a:prstGeom>
          <a:solidFill>
            <a:schemeClr val="tx1"/>
          </a:solidFill>
          <a:ln/>
        </p:spPr>
        <p:txBody>
          <a:bodyPr/>
          <a:lstStyle/>
          <a:p>
            <a:endParaRPr lang="en-IN" dirty="0"/>
          </a:p>
        </p:txBody>
      </p:sp>
      <p:pic>
        <p:nvPicPr>
          <p:cNvPr id="1028" name="Picture 4" descr="Netflix mobile application logo 17396814 PNG">
            <a:extLst>
              <a:ext uri="{FF2B5EF4-FFF2-40B4-BE49-F238E27FC236}">
                <a16:creationId xmlns:a16="http://schemas.microsoft.com/office/drawing/2014/main" id="{C83E4795-A3E7-2D93-3FBD-E1416DE5904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79788" y="3579991"/>
            <a:ext cx="383956" cy="3839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ED8A2C9-602E-9D95-3D6F-28CE305798C8}"/>
              </a:ext>
            </a:extLst>
          </p:cNvPr>
          <p:cNvPicPr>
            <a:picLocks noChangeAspect="1" noChangeArrowheads="1"/>
          </p:cNvPicPr>
          <p:nvPr/>
        </p:nvPicPr>
        <p:blipFill>
          <a:blip r:embed="rId11">
            <a:biLevel thresh="25000"/>
            <a:extLst>
              <a:ext uri="{28A0092B-C50C-407E-A947-70E740481C1C}">
                <a14:useLocalDpi xmlns:a14="http://schemas.microsoft.com/office/drawing/2010/main" val="0"/>
              </a:ext>
            </a:extLst>
          </a:blip>
          <a:srcRect/>
          <a:stretch>
            <a:fillRect/>
          </a:stretch>
        </p:blipFill>
        <p:spPr bwMode="auto">
          <a:xfrm>
            <a:off x="7669195" y="3668443"/>
            <a:ext cx="316500" cy="1978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795576"/>
            <a:ext cx="4681895" cy="585192"/>
          </a:xfrm>
          <a:prstGeom prst="rect">
            <a:avLst/>
          </a:prstGeom>
          <a:noFill/>
          <a:ln/>
        </p:spPr>
        <p:txBody>
          <a:bodyPr wrap="none" lIns="0" tIns="0" rIns="0" bIns="0" rtlCol="0" anchor="t"/>
          <a:lstStyle/>
          <a:p>
            <a:pPr marL="0" indent="0" algn="l">
              <a:lnSpc>
                <a:spcPts val="4600"/>
              </a:lnSpc>
              <a:buNone/>
            </a:pPr>
            <a:r>
              <a:rPr lang="en-US" sz="3650" dirty="0">
                <a:solidFill>
                  <a:srgbClr val="00002E"/>
                </a:solidFill>
                <a:latin typeface="Nunito Semi Bold" pitchFamily="34" charset="0"/>
                <a:ea typeface="Nunito Semi Bold" pitchFamily="34" charset="-122"/>
                <a:cs typeface="Nunito Semi Bold" pitchFamily="34" charset="-120"/>
              </a:rPr>
              <a:t>Problem Statement</a:t>
            </a:r>
            <a:endParaRPr lang="en-US" sz="3650" dirty="0"/>
          </a:p>
        </p:txBody>
      </p:sp>
      <p:sp>
        <p:nvSpPr>
          <p:cNvPr id="3" name="Text 1"/>
          <p:cNvSpPr/>
          <p:nvPr/>
        </p:nvSpPr>
        <p:spPr>
          <a:xfrm>
            <a:off x="837724" y="1853208"/>
            <a:ext cx="2809161" cy="350996"/>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The Challenge</a:t>
            </a:r>
            <a:endParaRPr lang="en-US" sz="2200" dirty="0"/>
          </a:p>
        </p:txBody>
      </p:sp>
      <p:sp>
        <p:nvSpPr>
          <p:cNvPr id="4" name="Text 2"/>
          <p:cNvSpPr/>
          <p:nvPr/>
        </p:nvSpPr>
        <p:spPr>
          <a:xfrm>
            <a:off x="837724" y="2393156"/>
            <a:ext cx="5697141" cy="1241108"/>
          </a:xfrm>
          <a:prstGeom prst="rect">
            <a:avLst/>
          </a:prstGeom>
          <a:noFill/>
          <a:ln/>
        </p:spPr>
        <p:txBody>
          <a:bodyPr wrap="square" lIns="0" tIns="0" rIns="0" bIns="0" rtlCol="0" anchor="t"/>
          <a:lstStyle/>
          <a:p>
            <a:pPr marL="0" indent="0" algn="l">
              <a:lnSpc>
                <a:spcPts val="2400"/>
              </a:lnSpc>
              <a:buNone/>
            </a:pPr>
            <a:r>
              <a:rPr lang="en-US" sz="1550" dirty="0">
                <a:solidFill>
                  <a:srgbClr val="00002E"/>
                </a:solidFill>
                <a:latin typeface="PT Sans" pitchFamily="34" charset="0"/>
                <a:ea typeface="PT Sans" pitchFamily="34" charset="-122"/>
                <a:cs typeface="PT Sans" pitchFamily="34" charset="-120"/>
              </a:rPr>
              <a:t>With thousands of movies available on streaming platforms, users often find it difficult to choose what to watch. The overwhelming number of options can lead to decision paralysis and reduced user satisfaction.</a:t>
            </a:r>
            <a:endParaRPr lang="en-US" sz="1550" dirty="0"/>
          </a:p>
        </p:txBody>
      </p:sp>
      <p:sp>
        <p:nvSpPr>
          <p:cNvPr id="5" name="Text 3"/>
          <p:cNvSpPr/>
          <p:nvPr/>
        </p:nvSpPr>
        <p:spPr>
          <a:xfrm>
            <a:off x="837724" y="3823216"/>
            <a:ext cx="2809161" cy="350996"/>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The Solution</a:t>
            </a:r>
            <a:endParaRPr lang="en-US" sz="2200" dirty="0"/>
          </a:p>
        </p:txBody>
      </p:sp>
      <p:sp>
        <p:nvSpPr>
          <p:cNvPr id="6" name="Text 4"/>
          <p:cNvSpPr/>
          <p:nvPr/>
        </p:nvSpPr>
        <p:spPr>
          <a:xfrm>
            <a:off x="837724" y="4363164"/>
            <a:ext cx="5697141" cy="1241108"/>
          </a:xfrm>
          <a:prstGeom prst="rect">
            <a:avLst/>
          </a:prstGeom>
          <a:noFill/>
          <a:ln/>
        </p:spPr>
        <p:txBody>
          <a:bodyPr wrap="square" lIns="0" tIns="0" rIns="0" bIns="0" rtlCol="0" anchor="t"/>
          <a:lstStyle/>
          <a:p>
            <a:pPr marL="0" indent="0" algn="l">
              <a:lnSpc>
                <a:spcPts val="2400"/>
              </a:lnSpc>
              <a:buNone/>
            </a:pPr>
            <a:r>
              <a:rPr lang="en-US" sz="1550" dirty="0">
                <a:solidFill>
                  <a:srgbClr val="00002E"/>
                </a:solidFill>
                <a:latin typeface="PT Sans" pitchFamily="34" charset="0"/>
                <a:ea typeface="PT Sans" pitchFamily="34" charset="-122"/>
                <a:cs typeface="PT Sans" pitchFamily="34" charset="-120"/>
              </a:rPr>
              <a:t>A </a:t>
            </a:r>
            <a:r>
              <a:rPr lang="en-US" sz="1550" b="1" dirty="0">
                <a:solidFill>
                  <a:srgbClr val="00002E"/>
                </a:solidFill>
                <a:latin typeface="PT Sans" pitchFamily="34" charset="0"/>
                <a:ea typeface="PT Sans" pitchFamily="34" charset="-122"/>
                <a:cs typeface="PT Sans" pitchFamily="34" charset="-120"/>
              </a:rPr>
              <a:t>Movie Recommendation System</a:t>
            </a:r>
            <a:r>
              <a:rPr lang="en-US" sz="1550" dirty="0">
                <a:solidFill>
                  <a:srgbClr val="00002E"/>
                </a:solidFill>
                <a:latin typeface="PT Sans" pitchFamily="34" charset="0"/>
                <a:ea typeface="PT Sans" pitchFamily="34" charset="-122"/>
                <a:cs typeface="PT Sans" pitchFamily="34" charset="-120"/>
              </a:rPr>
              <a:t> helps solve this problem by analyzing movie data and suggesting similar movies that match user preferences. The system processes vast amounts of information to surface relevant content quickly.</a:t>
            </a:r>
            <a:endParaRPr lang="en-US" sz="1550" dirty="0"/>
          </a:p>
        </p:txBody>
      </p:sp>
      <p:sp>
        <p:nvSpPr>
          <p:cNvPr id="7" name="Text 5"/>
          <p:cNvSpPr/>
          <p:nvPr/>
        </p:nvSpPr>
        <p:spPr>
          <a:xfrm>
            <a:off x="837724" y="5793224"/>
            <a:ext cx="2809161" cy="350996"/>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Technical Approach</a:t>
            </a:r>
            <a:endParaRPr lang="en-US" sz="2200" dirty="0"/>
          </a:p>
        </p:txBody>
      </p:sp>
      <p:sp>
        <p:nvSpPr>
          <p:cNvPr id="8" name="Text 6"/>
          <p:cNvSpPr/>
          <p:nvPr/>
        </p:nvSpPr>
        <p:spPr>
          <a:xfrm>
            <a:off x="837724" y="6333173"/>
            <a:ext cx="5697141" cy="930831"/>
          </a:xfrm>
          <a:prstGeom prst="rect">
            <a:avLst/>
          </a:prstGeom>
          <a:noFill/>
          <a:ln/>
        </p:spPr>
        <p:txBody>
          <a:bodyPr wrap="square" lIns="0" tIns="0" rIns="0" bIns="0" rtlCol="0" anchor="t"/>
          <a:lstStyle/>
          <a:p>
            <a:pPr marL="0" indent="0" algn="l">
              <a:lnSpc>
                <a:spcPts val="2400"/>
              </a:lnSpc>
              <a:buNone/>
            </a:pPr>
            <a:r>
              <a:rPr lang="en-US" sz="1550" dirty="0">
                <a:solidFill>
                  <a:srgbClr val="00002E"/>
                </a:solidFill>
                <a:latin typeface="PT Sans" pitchFamily="34" charset="0"/>
                <a:ea typeface="PT Sans" pitchFamily="34" charset="-122"/>
                <a:cs typeface="PT Sans" pitchFamily="34" charset="-120"/>
              </a:rPr>
              <a:t>The goal is to build a system that recommends movies based on </a:t>
            </a:r>
            <a:r>
              <a:rPr lang="en-US" sz="1550" b="1" dirty="0">
                <a:solidFill>
                  <a:srgbClr val="2D4DF2"/>
                </a:solidFill>
                <a:latin typeface="PT Sans" pitchFamily="34" charset="0"/>
                <a:ea typeface="PT Sans" pitchFamily="34" charset="-122"/>
                <a:cs typeface="PT Sans" pitchFamily="34" charset="-120"/>
              </a:rPr>
              <a:t>similarity between movie features</a:t>
            </a:r>
            <a:r>
              <a:rPr lang="en-US" sz="1550" dirty="0">
                <a:solidFill>
                  <a:srgbClr val="00002E"/>
                </a:solidFill>
                <a:latin typeface="PT Sans" pitchFamily="34" charset="0"/>
                <a:ea typeface="PT Sans" pitchFamily="34" charset="-122"/>
                <a:cs typeface="PT Sans" pitchFamily="34" charset="-120"/>
              </a:rPr>
              <a:t> such as genre, keywords, and overview.</a:t>
            </a:r>
            <a:endParaRPr lang="en-US" sz="1550" dirty="0"/>
          </a:p>
        </p:txBody>
      </p:sp>
      <p:sp>
        <p:nvSpPr>
          <p:cNvPr id="9" name="Text 7"/>
          <p:cNvSpPr/>
          <p:nvPr/>
        </p:nvSpPr>
        <p:spPr>
          <a:xfrm>
            <a:off x="7027783" y="1834277"/>
            <a:ext cx="6772394" cy="310277"/>
          </a:xfrm>
          <a:prstGeom prst="rect">
            <a:avLst/>
          </a:prstGeom>
          <a:noFill/>
          <a:ln/>
        </p:spPr>
        <p:txBody>
          <a:bodyPr wrap="none" lIns="0" tIns="0" rIns="0" bIns="0" rtlCol="0" anchor="t"/>
          <a:lstStyle/>
          <a:p>
            <a:pPr marL="0" indent="0" algn="l">
              <a:lnSpc>
                <a:spcPts val="2400"/>
              </a:lnSpc>
              <a:buNone/>
            </a:pPr>
            <a:endParaRPr lang="en-US" sz="1550" dirty="0"/>
          </a:p>
        </p:txBody>
      </p:sp>
      <p:pic>
        <p:nvPicPr>
          <p:cNvPr id="10" name="Image 0" descr="preencoded.png"/>
          <p:cNvPicPr>
            <a:picLocks noChangeAspect="1"/>
          </p:cNvPicPr>
          <p:nvPr/>
        </p:nvPicPr>
        <p:blipFill>
          <a:blip r:embed="rId3"/>
          <a:srcRect l="3541" t="12758" r="2548" b="7979"/>
          <a:stretch>
            <a:fillRect/>
          </a:stretch>
        </p:blipFill>
        <p:spPr>
          <a:xfrm>
            <a:off x="6933235" y="2393156"/>
            <a:ext cx="6991110" cy="419283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1" name="Watermark">
            <a:extLst>
              <a:ext uri="{FF2B5EF4-FFF2-40B4-BE49-F238E27FC236}">
                <a16:creationId xmlns:a16="http://schemas.microsoft.com/office/drawing/2014/main" id="{BB770A9D-8A18-C943-D957-43B8FFF229F6}"/>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Google Shape;121;p16">
            <a:extLst>
              <a:ext uri="{FF2B5EF4-FFF2-40B4-BE49-F238E27FC236}">
                <a16:creationId xmlns:a16="http://schemas.microsoft.com/office/drawing/2014/main" id="{B8844D3F-C8E4-58C7-7AA7-676543DD3847}"/>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4</a:t>
            </a:fld>
            <a:endParaRPr sz="1600" b="0" i="0" u="none" strike="noStrike" cap="none" dirty="0">
              <a:solidFill>
                <a:srgbClr val="757575"/>
              </a:solidFill>
              <a:latin typeface="Nunito" pitchFamily="2" charset="0"/>
              <a:ea typeface="Arial"/>
              <a:cs typeface="Arial"/>
              <a:sym typeface="Arial"/>
            </a:endParaRPr>
          </a:p>
        </p:txBody>
      </p:sp>
      <p:grpSp>
        <p:nvGrpSpPr>
          <p:cNvPr id="13" name="Group 12">
            <a:extLst>
              <a:ext uri="{FF2B5EF4-FFF2-40B4-BE49-F238E27FC236}">
                <a16:creationId xmlns:a16="http://schemas.microsoft.com/office/drawing/2014/main" id="{1F41AD8C-343A-C3C9-5C9E-9CA46FD5D99D}"/>
              </a:ext>
            </a:extLst>
          </p:cNvPr>
          <p:cNvGrpSpPr/>
          <p:nvPr/>
        </p:nvGrpSpPr>
        <p:grpSpPr>
          <a:xfrm>
            <a:off x="11984501" y="198004"/>
            <a:ext cx="2348508" cy="803700"/>
            <a:chOff x="11965987" y="253625"/>
            <a:chExt cx="2348508" cy="803700"/>
          </a:xfrm>
        </p:grpSpPr>
        <p:pic>
          <p:nvPicPr>
            <p:cNvPr id="14" name="Picture 6" descr="Galgotias-University-Logo | EROCON">
              <a:extLst>
                <a:ext uri="{FF2B5EF4-FFF2-40B4-BE49-F238E27FC236}">
                  <a16:creationId xmlns:a16="http://schemas.microsoft.com/office/drawing/2014/main" id="{8BA85011-8AE1-0164-7844-8945C1100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C0B34D1-C64A-29AB-F2BB-FD998FE0BA48}"/>
                </a:ext>
              </a:extLst>
            </p:cNvPr>
            <p:cNvPicPr>
              <a:picLocks noChangeAspect="1"/>
            </p:cNvPicPr>
            <p:nvPr/>
          </p:nvPicPr>
          <p:blipFill>
            <a:blip r:embed="rId5"/>
            <a:srcRect l="885" t="847" r="1416" b="805"/>
            <a:stretch>
              <a:fillRect/>
            </a:stretch>
          </p:blipFill>
          <p:spPr>
            <a:xfrm>
              <a:off x="13543389" y="253625"/>
              <a:ext cx="771106" cy="803700"/>
            </a:xfrm>
            <a:prstGeom prst="rect">
              <a:avLst/>
            </a:prstGeom>
          </p:spPr>
        </p:pic>
      </p:grpSp>
      <p:sp>
        <p:nvSpPr>
          <p:cNvPr id="16" name="Google Shape;121;p16">
            <a:extLst>
              <a:ext uri="{FF2B5EF4-FFF2-40B4-BE49-F238E27FC236}">
                <a16:creationId xmlns:a16="http://schemas.microsoft.com/office/drawing/2014/main" id="{4514E176-5D73-A1BB-4CD7-1E12AF2ACABD}"/>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009" y="578048"/>
            <a:ext cx="4923830" cy="615553"/>
          </a:xfrm>
          <a:prstGeom prst="rect">
            <a:avLst/>
          </a:prstGeom>
          <a:noFill/>
          <a:ln/>
        </p:spPr>
        <p:txBody>
          <a:bodyPr wrap="none" lIns="0" tIns="0" rIns="0" bIns="0" rtlCol="0" anchor="t"/>
          <a:lstStyle/>
          <a:p>
            <a:pPr marL="0" indent="0" algn="l">
              <a:lnSpc>
                <a:spcPts val="4800"/>
              </a:lnSpc>
              <a:buNone/>
            </a:pPr>
            <a:r>
              <a:rPr lang="en-US" sz="3850" dirty="0">
                <a:solidFill>
                  <a:srgbClr val="00002E"/>
                </a:solidFill>
                <a:latin typeface="Nunito Semi Bold" pitchFamily="34" charset="0"/>
                <a:ea typeface="Nunito Semi Bold" pitchFamily="34" charset="-122"/>
                <a:cs typeface="Nunito Semi Bold" pitchFamily="34" charset="-120"/>
              </a:rPr>
              <a:t>Project Objectives</a:t>
            </a:r>
            <a:endParaRPr lang="en-US" sz="3850" dirty="0"/>
          </a:p>
        </p:txBody>
      </p:sp>
      <p:sp>
        <p:nvSpPr>
          <p:cNvPr id="3" name="Text 1"/>
          <p:cNvSpPr/>
          <p:nvPr/>
        </p:nvSpPr>
        <p:spPr>
          <a:xfrm>
            <a:off x="837009" y="1611630"/>
            <a:ext cx="12956381" cy="334685"/>
          </a:xfrm>
          <a:prstGeom prst="rect">
            <a:avLst/>
          </a:prstGeom>
          <a:noFill/>
          <a:ln/>
        </p:spPr>
        <p:txBody>
          <a:bodyPr wrap="non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The objectives of this project are designed to provide hands-on experience with real-world machine learning applications:</a:t>
            </a:r>
            <a:endParaRPr lang="en-US" sz="1600" dirty="0"/>
          </a:p>
        </p:txBody>
      </p:sp>
      <p:sp>
        <p:nvSpPr>
          <p:cNvPr id="4" name="Shape 2"/>
          <p:cNvSpPr/>
          <p:nvPr/>
        </p:nvSpPr>
        <p:spPr>
          <a:xfrm>
            <a:off x="837009" y="2181463"/>
            <a:ext cx="6373654" cy="1901309"/>
          </a:xfrm>
          <a:prstGeom prst="roundRect">
            <a:avLst>
              <a:gd name="adj" fmla="val 5771"/>
            </a:avLst>
          </a:prstGeom>
          <a:solidFill>
            <a:srgbClr val="F3F3FF">
              <a:alpha val="75000"/>
            </a:srgbClr>
          </a:solidFill>
          <a:ln w="22860">
            <a:solidFill>
              <a:srgbClr val="2D4DF2"/>
            </a:solidFill>
            <a:prstDash val="solid"/>
          </a:ln>
        </p:spPr>
      </p:sp>
      <p:sp>
        <p:nvSpPr>
          <p:cNvPr id="5" name="Shape 3"/>
          <p:cNvSpPr/>
          <p:nvPr/>
        </p:nvSpPr>
        <p:spPr>
          <a:xfrm>
            <a:off x="814149" y="2181463"/>
            <a:ext cx="91440" cy="1901309"/>
          </a:xfrm>
          <a:prstGeom prst="roundRect">
            <a:avLst>
              <a:gd name="adj" fmla="val 343282"/>
            </a:avLst>
          </a:prstGeom>
          <a:solidFill>
            <a:srgbClr val="2D4DF2"/>
          </a:solidFill>
          <a:ln/>
        </p:spPr>
      </p:sp>
      <p:sp>
        <p:nvSpPr>
          <p:cNvPr id="6" name="Text 4"/>
          <p:cNvSpPr/>
          <p:nvPr/>
        </p:nvSpPr>
        <p:spPr>
          <a:xfrm>
            <a:off x="1137642" y="2413516"/>
            <a:ext cx="4352925" cy="307777"/>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Understand Recommendation Systems</a:t>
            </a:r>
            <a:endParaRPr lang="en-US" sz="1900" dirty="0"/>
          </a:p>
        </p:txBody>
      </p:sp>
      <p:sp>
        <p:nvSpPr>
          <p:cNvPr id="7" name="Text 5"/>
          <p:cNvSpPr/>
          <p:nvPr/>
        </p:nvSpPr>
        <p:spPr>
          <a:xfrm>
            <a:off x="1137642" y="2846665"/>
            <a:ext cx="5840968" cy="1004054"/>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Gain foundational knowledge of how recommendation engines work, including different filtering approaches and their use cases in industry applications</a:t>
            </a:r>
            <a:endParaRPr lang="en-US" sz="1600" dirty="0"/>
          </a:p>
        </p:txBody>
      </p:sp>
      <p:sp>
        <p:nvSpPr>
          <p:cNvPr id="8" name="Shape 6"/>
          <p:cNvSpPr/>
          <p:nvPr/>
        </p:nvSpPr>
        <p:spPr>
          <a:xfrm>
            <a:off x="7419618" y="2181463"/>
            <a:ext cx="6373773" cy="1901309"/>
          </a:xfrm>
          <a:prstGeom prst="roundRect">
            <a:avLst>
              <a:gd name="adj" fmla="val 5771"/>
            </a:avLst>
          </a:prstGeom>
          <a:solidFill>
            <a:srgbClr val="F3F3FF">
              <a:alpha val="75000"/>
            </a:srgbClr>
          </a:solidFill>
          <a:ln w="22860">
            <a:solidFill>
              <a:srgbClr val="018CE1"/>
            </a:solidFill>
            <a:prstDash val="solid"/>
          </a:ln>
        </p:spPr>
      </p:sp>
      <p:sp>
        <p:nvSpPr>
          <p:cNvPr id="9" name="Shape 7"/>
          <p:cNvSpPr/>
          <p:nvPr/>
        </p:nvSpPr>
        <p:spPr>
          <a:xfrm>
            <a:off x="7396758" y="2181463"/>
            <a:ext cx="91440" cy="1901309"/>
          </a:xfrm>
          <a:prstGeom prst="roundRect">
            <a:avLst>
              <a:gd name="adj" fmla="val 343282"/>
            </a:avLst>
          </a:prstGeom>
          <a:solidFill>
            <a:srgbClr val="018CE1"/>
          </a:solidFill>
          <a:ln/>
        </p:spPr>
      </p:sp>
      <p:sp>
        <p:nvSpPr>
          <p:cNvPr id="10" name="Text 8"/>
          <p:cNvSpPr/>
          <p:nvPr/>
        </p:nvSpPr>
        <p:spPr>
          <a:xfrm>
            <a:off x="7720251" y="2413516"/>
            <a:ext cx="2461855" cy="307777"/>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Apply ML Techniques</a:t>
            </a:r>
            <a:endParaRPr lang="en-US" sz="1900" dirty="0"/>
          </a:p>
        </p:txBody>
      </p:sp>
      <p:sp>
        <p:nvSpPr>
          <p:cNvPr id="11" name="Text 9"/>
          <p:cNvSpPr/>
          <p:nvPr/>
        </p:nvSpPr>
        <p:spPr>
          <a:xfrm>
            <a:off x="7720251" y="2846665"/>
            <a:ext cx="5841087" cy="1004054"/>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Implement </a:t>
            </a:r>
            <a:r>
              <a:rPr lang="en-US" sz="1600" b="1" dirty="0">
                <a:solidFill>
                  <a:srgbClr val="00002E"/>
                </a:solidFill>
                <a:latin typeface="PT Sans" pitchFamily="34" charset="0"/>
                <a:ea typeface="PT Sans" pitchFamily="34" charset="-122"/>
                <a:cs typeface="PT Sans" pitchFamily="34" charset="-120"/>
              </a:rPr>
              <a:t>machine learning techniques for real-world problems</a:t>
            </a:r>
            <a:r>
              <a:rPr lang="en-US" sz="1600" dirty="0">
                <a:solidFill>
                  <a:srgbClr val="00002E"/>
                </a:solidFill>
                <a:latin typeface="PT Sans" pitchFamily="34" charset="0"/>
                <a:ea typeface="PT Sans" pitchFamily="34" charset="-122"/>
                <a:cs typeface="PT Sans" pitchFamily="34" charset="-120"/>
              </a:rPr>
              <a:t>, bridging theoretical concepts with practical implementation in Python</a:t>
            </a:r>
            <a:endParaRPr lang="en-US" sz="1600" dirty="0"/>
          </a:p>
        </p:txBody>
      </p:sp>
      <p:sp>
        <p:nvSpPr>
          <p:cNvPr id="12" name="Shape 10"/>
          <p:cNvSpPr/>
          <p:nvPr/>
        </p:nvSpPr>
        <p:spPr>
          <a:xfrm>
            <a:off x="837009" y="4291727"/>
            <a:ext cx="6373654" cy="1901309"/>
          </a:xfrm>
          <a:prstGeom prst="roundRect">
            <a:avLst>
              <a:gd name="adj" fmla="val 5771"/>
            </a:avLst>
          </a:prstGeom>
          <a:solidFill>
            <a:srgbClr val="F3F3FF">
              <a:alpha val="75000"/>
            </a:srgbClr>
          </a:solidFill>
          <a:ln w="22860">
            <a:solidFill>
              <a:srgbClr val="DA33BF"/>
            </a:solidFill>
            <a:prstDash val="solid"/>
          </a:ln>
        </p:spPr>
      </p:sp>
      <p:sp>
        <p:nvSpPr>
          <p:cNvPr id="13" name="Shape 11"/>
          <p:cNvSpPr/>
          <p:nvPr/>
        </p:nvSpPr>
        <p:spPr>
          <a:xfrm>
            <a:off x="814149" y="4291727"/>
            <a:ext cx="91440" cy="1901309"/>
          </a:xfrm>
          <a:prstGeom prst="roundRect">
            <a:avLst>
              <a:gd name="adj" fmla="val 343282"/>
            </a:avLst>
          </a:prstGeom>
          <a:solidFill>
            <a:srgbClr val="DA33BF"/>
          </a:solidFill>
          <a:ln/>
        </p:spPr>
      </p:sp>
      <p:sp>
        <p:nvSpPr>
          <p:cNvPr id="14" name="Text 12"/>
          <p:cNvSpPr/>
          <p:nvPr/>
        </p:nvSpPr>
        <p:spPr>
          <a:xfrm>
            <a:off x="1137642" y="4523780"/>
            <a:ext cx="2461855" cy="307777"/>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Preprocess Datasets</a:t>
            </a:r>
            <a:endParaRPr lang="en-US" sz="1900" dirty="0"/>
          </a:p>
        </p:txBody>
      </p:sp>
      <p:sp>
        <p:nvSpPr>
          <p:cNvPr id="15" name="Text 13"/>
          <p:cNvSpPr/>
          <p:nvPr/>
        </p:nvSpPr>
        <p:spPr>
          <a:xfrm>
            <a:off x="1137642" y="4956929"/>
            <a:ext cx="5840968" cy="1004054"/>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Learn data preprocessing techniques essential for model training, including data cleaning, feature engineering, and handling missing values</a:t>
            </a:r>
            <a:endParaRPr lang="en-US" sz="1600" dirty="0"/>
          </a:p>
        </p:txBody>
      </p:sp>
      <p:sp>
        <p:nvSpPr>
          <p:cNvPr id="16" name="Shape 14"/>
          <p:cNvSpPr/>
          <p:nvPr/>
        </p:nvSpPr>
        <p:spPr>
          <a:xfrm>
            <a:off x="7419618" y="4291727"/>
            <a:ext cx="6373773" cy="1901309"/>
          </a:xfrm>
          <a:prstGeom prst="roundRect">
            <a:avLst>
              <a:gd name="adj" fmla="val 5771"/>
            </a:avLst>
          </a:prstGeom>
          <a:solidFill>
            <a:srgbClr val="F3F3FF">
              <a:alpha val="75000"/>
            </a:srgbClr>
          </a:solidFill>
          <a:ln w="22860">
            <a:solidFill>
              <a:srgbClr val="2D4DF2"/>
            </a:solidFill>
            <a:prstDash val="solid"/>
          </a:ln>
        </p:spPr>
      </p:sp>
      <p:sp>
        <p:nvSpPr>
          <p:cNvPr id="17" name="Shape 15"/>
          <p:cNvSpPr/>
          <p:nvPr/>
        </p:nvSpPr>
        <p:spPr>
          <a:xfrm>
            <a:off x="7396758" y="4291727"/>
            <a:ext cx="91440" cy="1901309"/>
          </a:xfrm>
          <a:prstGeom prst="roundRect">
            <a:avLst>
              <a:gd name="adj" fmla="val 343282"/>
            </a:avLst>
          </a:prstGeom>
          <a:solidFill>
            <a:srgbClr val="2D4DF2"/>
          </a:solidFill>
          <a:ln/>
        </p:spPr>
      </p:sp>
      <p:sp>
        <p:nvSpPr>
          <p:cNvPr id="18" name="Text 16"/>
          <p:cNvSpPr/>
          <p:nvPr/>
        </p:nvSpPr>
        <p:spPr>
          <a:xfrm>
            <a:off x="7720251" y="4523780"/>
            <a:ext cx="2548176" cy="307777"/>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Build Similarity Engine</a:t>
            </a:r>
            <a:endParaRPr lang="en-US" sz="1900" dirty="0"/>
          </a:p>
        </p:txBody>
      </p:sp>
      <p:sp>
        <p:nvSpPr>
          <p:cNvPr id="19" name="Text 17"/>
          <p:cNvSpPr/>
          <p:nvPr/>
        </p:nvSpPr>
        <p:spPr>
          <a:xfrm>
            <a:off x="7720251" y="4956929"/>
            <a:ext cx="5841087" cy="669369"/>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Develop a system that recommends movies based on similarity calculations using content-based filtering methods</a:t>
            </a:r>
            <a:endParaRPr lang="en-US" sz="1600" dirty="0"/>
          </a:p>
        </p:txBody>
      </p:sp>
      <p:sp>
        <p:nvSpPr>
          <p:cNvPr id="20" name="Shape 18"/>
          <p:cNvSpPr/>
          <p:nvPr/>
        </p:nvSpPr>
        <p:spPr>
          <a:xfrm>
            <a:off x="837009" y="6428184"/>
            <a:ext cx="12956381" cy="1223248"/>
          </a:xfrm>
          <a:prstGeom prst="roundRect">
            <a:avLst>
              <a:gd name="adj" fmla="val 25661"/>
            </a:avLst>
          </a:prstGeom>
          <a:solidFill>
            <a:srgbClr val="B7C2FB"/>
          </a:solidFill>
          <a:ln/>
        </p:spPr>
      </p:sp>
      <p:pic>
        <p:nvPicPr>
          <p:cNvPr id="21" name="Image 0" descr="preencoded.png"/>
          <p:cNvPicPr>
            <a:picLocks noChangeAspect="1"/>
          </p:cNvPicPr>
          <p:nvPr/>
        </p:nvPicPr>
        <p:blipFill>
          <a:blip r:embed="rId3"/>
          <a:stretch>
            <a:fillRect/>
          </a:stretch>
        </p:blipFill>
        <p:spPr>
          <a:xfrm>
            <a:off x="1046202" y="6742748"/>
            <a:ext cx="261580" cy="209193"/>
          </a:xfrm>
          <a:prstGeom prst="rect">
            <a:avLst/>
          </a:prstGeom>
        </p:spPr>
      </p:pic>
      <p:sp>
        <p:nvSpPr>
          <p:cNvPr id="22" name="Text 19"/>
          <p:cNvSpPr/>
          <p:nvPr/>
        </p:nvSpPr>
        <p:spPr>
          <a:xfrm>
            <a:off x="1516975" y="6689408"/>
            <a:ext cx="12067223" cy="669369"/>
          </a:xfrm>
          <a:prstGeom prst="rect">
            <a:avLst/>
          </a:prstGeom>
          <a:noFill/>
          <a:ln/>
        </p:spPr>
        <p:txBody>
          <a:bodyPr wrap="square" lIns="0" tIns="0" rIns="0" bIns="0" rtlCol="0" anchor="t"/>
          <a:lstStyle/>
          <a:p>
            <a:pPr marL="0" indent="0" algn="l">
              <a:lnSpc>
                <a:spcPts val="2600"/>
              </a:lnSpc>
              <a:buNone/>
            </a:pPr>
            <a:r>
              <a:rPr lang="en-US" sz="1600" dirty="0">
                <a:solidFill>
                  <a:srgbClr val="000000"/>
                </a:solidFill>
                <a:latin typeface="PT Sans" pitchFamily="34" charset="0"/>
                <a:ea typeface="PT Sans" pitchFamily="34" charset="-122"/>
                <a:cs typeface="PT Sans" pitchFamily="34" charset="-120"/>
              </a:rPr>
              <a:t>This project directly aligns with the course objective of </a:t>
            </a:r>
            <a:r>
              <a:rPr lang="en-US" sz="1600" b="1" dirty="0">
                <a:solidFill>
                  <a:srgbClr val="000000"/>
                </a:solidFill>
                <a:latin typeface="PT Sans" pitchFamily="34" charset="0"/>
                <a:ea typeface="PT Sans" pitchFamily="34" charset="-122"/>
                <a:cs typeface="PT Sans" pitchFamily="34" charset="-120"/>
              </a:rPr>
              <a:t>applying machine learning algorithms to solve real-world problems</a:t>
            </a:r>
            <a:r>
              <a:rPr lang="en-US" sz="1600" dirty="0">
                <a:solidFill>
                  <a:srgbClr val="000000"/>
                </a:solidFill>
                <a:latin typeface="PT Sans" pitchFamily="34" charset="0"/>
                <a:ea typeface="PT Sans" pitchFamily="34" charset="-122"/>
                <a:cs typeface="PT Sans" pitchFamily="34" charset="-120"/>
              </a:rPr>
              <a:t>, providing practical skills for data science and AI careers.</a:t>
            </a:r>
            <a:endParaRPr lang="en-US" sz="1600" dirty="0"/>
          </a:p>
        </p:txBody>
      </p:sp>
      <p:sp>
        <p:nvSpPr>
          <p:cNvPr id="23" name="Watermark">
            <a:extLst>
              <a:ext uri="{FF2B5EF4-FFF2-40B4-BE49-F238E27FC236}">
                <a16:creationId xmlns:a16="http://schemas.microsoft.com/office/drawing/2014/main" id="{89F9A300-04F7-E846-B1CB-BEE5A9D2A7CE}"/>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Google Shape;121;p16">
            <a:extLst>
              <a:ext uri="{FF2B5EF4-FFF2-40B4-BE49-F238E27FC236}">
                <a16:creationId xmlns:a16="http://schemas.microsoft.com/office/drawing/2014/main" id="{FA6F2C61-B195-7173-7C76-46DEA191A1CD}"/>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5</a:t>
            </a:fld>
            <a:endParaRPr sz="1600" b="0" i="0" u="none" strike="noStrike" cap="none" dirty="0">
              <a:solidFill>
                <a:srgbClr val="757575"/>
              </a:solidFill>
              <a:latin typeface="Nunito" pitchFamily="2" charset="0"/>
              <a:ea typeface="Arial"/>
              <a:cs typeface="Arial"/>
              <a:sym typeface="Arial"/>
            </a:endParaRPr>
          </a:p>
        </p:txBody>
      </p:sp>
      <p:grpSp>
        <p:nvGrpSpPr>
          <p:cNvPr id="25" name="Group 24">
            <a:extLst>
              <a:ext uri="{FF2B5EF4-FFF2-40B4-BE49-F238E27FC236}">
                <a16:creationId xmlns:a16="http://schemas.microsoft.com/office/drawing/2014/main" id="{D48B5C52-B239-3E9B-1F25-243DA930EDAD}"/>
              </a:ext>
            </a:extLst>
          </p:cNvPr>
          <p:cNvGrpSpPr/>
          <p:nvPr/>
        </p:nvGrpSpPr>
        <p:grpSpPr>
          <a:xfrm>
            <a:off x="11984501" y="198004"/>
            <a:ext cx="2348508" cy="803700"/>
            <a:chOff x="11965987" y="253625"/>
            <a:chExt cx="2348508" cy="803700"/>
          </a:xfrm>
        </p:grpSpPr>
        <p:pic>
          <p:nvPicPr>
            <p:cNvPr id="26" name="Picture 6" descr="Galgotias-University-Logo | EROCON">
              <a:extLst>
                <a:ext uri="{FF2B5EF4-FFF2-40B4-BE49-F238E27FC236}">
                  <a16:creationId xmlns:a16="http://schemas.microsoft.com/office/drawing/2014/main" id="{CAC6F727-73EA-D202-E379-EAC37F33D3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724E4C5-5AA5-608D-3F0C-19F906C64B04}"/>
                </a:ext>
              </a:extLst>
            </p:cNvPr>
            <p:cNvPicPr>
              <a:picLocks noChangeAspect="1"/>
            </p:cNvPicPr>
            <p:nvPr/>
          </p:nvPicPr>
          <p:blipFill>
            <a:blip r:embed="rId5"/>
            <a:srcRect l="885" t="847" r="1416" b="805"/>
            <a:stretch>
              <a:fillRect/>
            </a:stretch>
          </p:blipFill>
          <p:spPr>
            <a:xfrm>
              <a:off x="13543389" y="253625"/>
              <a:ext cx="771106" cy="803700"/>
            </a:xfrm>
            <a:prstGeom prst="rect">
              <a:avLst/>
            </a:prstGeom>
          </p:spPr>
        </p:pic>
      </p:grpSp>
      <p:sp>
        <p:nvSpPr>
          <p:cNvPr id="28" name="Google Shape;121;p16">
            <a:extLst>
              <a:ext uri="{FF2B5EF4-FFF2-40B4-BE49-F238E27FC236}">
                <a16:creationId xmlns:a16="http://schemas.microsoft.com/office/drawing/2014/main" id="{76C3CC4F-C532-9495-D745-9B97070B726C}"/>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4" grpId="0" animBg="1"/>
      <p:bldP spid="15"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660083"/>
            <a:ext cx="4189095" cy="523518"/>
          </a:xfrm>
          <a:prstGeom prst="rect">
            <a:avLst/>
          </a:prstGeom>
          <a:noFill/>
          <a:ln/>
        </p:spPr>
        <p:txBody>
          <a:bodyPr wrap="none" lIns="0" tIns="0" rIns="0" bIns="0" rtlCol="0" anchor="t"/>
          <a:lstStyle/>
          <a:p>
            <a:pPr marL="0" indent="0" algn="l">
              <a:lnSpc>
                <a:spcPts val="4100"/>
              </a:lnSpc>
              <a:buNone/>
            </a:pPr>
            <a:r>
              <a:rPr lang="en-US" sz="3250" dirty="0">
                <a:solidFill>
                  <a:srgbClr val="00002E"/>
                </a:solidFill>
                <a:latin typeface="Nunito Semi Bold" pitchFamily="34" charset="0"/>
                <a:ea typeface="Nunito Semi Bold" pitchFamily="34" charset="-122"/>
                <a:cs typeface="Nunito Semi Bold" pitchFamily="34" charset="-120"/>
              </a:rPr>
              <a:t>Dataset Description</a:t>
            </a:r>
            <a:endParaRPr lang="en-US" sz="3250" dirty="0"/>
          </a:p>
        </p:txBody>
      </p:sp>
      <p:sp>
        <p:nvSpPr>
          <p:cNvPr id="3" name="Text 1"/>
          <p:cNvSpPr/>
          <p:nvPr/>
        </p:nvSpPr>
        <p:spPr>
          <a:xfrm>
            <a:off x="837724" y="1486257"/>
            <a:ext cx="12954952"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The project will utilize a comprehensive </a:t>
            </a:r>
            <a:r>
              <a:rPr lang="en-US" sz="1400" b="1" dirty="0">
                <a:solidFill>
                  <a:srgbClr val="00002E"/>
                </a:solidFill>
                <a:latin typeface="PT Sans" pitchFamily="34" charset="0"/>
                <a:ea typeface="PT Sans" pitchFamily="34" charset="-122"/>
                <a:cs typeface="PT Sans" pitchFamily="34" charset="-120"/>
              </a:rPr>
              <a:t>Movie Dataset</a:t>
            </a:r>
            <a:r>
              <a:rPr lang="en-US" sz="1400" dirty="0">
                <a:solidFill>
                  <a:srgbClr val="00002E"/>
                </a:solidFill>
                <a:latin typeface="PT Sans" pitchFamily="34" charset="0"/>
                <a:ea typeface="PT Sans" pitchFamily="34" charset="-122"/>
                <a:cs typeface="PT Sans" pitchFamily="34" charset="-120"/>
              </a:rPr>
              <a:t> such as the </a:t>
            </a:r>
            <a:r>
              <a:rPr lang="en-US" sz="1400" b="1" dirty="0">
                <a:solidFill>
                  <a:srgbClr val="2D4DF2"/>
                </a:solidFill>
                <a:latin typeface="PT Sans" pitchFamily="34" charset="0"/>
                <a:ea typeface="PT Sans" pitchFamily="34" charset="-122"/>
                <a:cs typeface="PT Sans" pitchFamily="34" charset="-120"/>
              </a:rPr>
              <a:t>MovieLens or Kaggle Movie Dataset</a:t>
            </a:r>
            <a:r>
              <a:rPr lang="en-US" sz="1400" dirty="0">
                <a:solidFill>
                  <a:srgbClr val="00002E"/>
                </a:solidFill>
                <a:latin typeface="PT Sans" pitchFamily="34" charset="0"/>
                <a:ea typeface="PT Sans" pitchFamily="34" charset="-122"/>
                <a:cs typeface="PT Sans" pitchFamily="34" charset="-120"/>
              </a:rPr>
              <a:t>. These datasets contain thousands of movies with rich metadata that enables accurate similarity calculations.</a:t>
            </a:r>
            <a:endParaRPr lang="en-US" sz="1400" dirty="0"/>
          </a:p>
        </p:txBody>
      </p:sp>
      <p:sp>
        <p:nvSpPr>
          <p:cNvPr id="4" name="Text 2"/>
          <p:cNvSpPr/>
          <p:nvPr/>
        </p:nvSpPr>
        <p:spPr>
          <a:xfrm>
            <a:off x="837724" y="2239923"/>
            <a:ext cx="2605921" cy="314087"/>
          </a:xfrm>
          <a:prstGeom prst="rect">
            <a:avLst/>
          </a:prstGeom>
          <a:noFill/>
          <a:ln/>
        </p:spPr>
        <p:txBody>
          <a:bodyPr wrap="none" lIns="0" tIns="0" rIns="0" bIns="0" rtlCol="0" anchor="t"/>
          <a:lstStyle/>
          <a:p>
            <a:pPr marL="0" indent="0" algn="l">
              <a:lnSpc>
                <a:spcPts val="2450"/>
              </a:lnSpc>
              <a:buNone/>
            </a:pPr>
            <a:r>
              <a:rPr lang="en-US" sz="1950" dirty="0">
                <a:solidFill>
                  <a:srgbClr val="00002E"/>
                </a:solidFill>
                <a:latin typeface="Nunito Semi Bold" pitchFamily="34" charset="0"/>
                <a:ea typeface="Nunito Semi Bold" pitchFamily="34" charset="-122"/>
                <a:cs typeface="Nunito Semi Bold" pitchFamily="34" charset="-120"/>
              </a:rPr>
              <a:t>Key Dataset Attributes</a:t>
            </a:r>
            <a:endParaRPr lang="en-US" sz="19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7724" y="2780943"/>
            <a:ext cx="445056" cy="445056"/>
          </a:xfrm>
          <a:prstGeom prst="rect">
            <a:avLst/>
          </a:prstGeom>
        </p:spPr>
      </p:pic>
      <p:sp>
        <p:nvSpPr>
          <p:cNvPr id="6" name="Text 3"/>
          <p:cNvSpPr/>
          <p:nvPr/>
        </p:nvSpPr>
        <p:spPr>
          <a:xfrm>
            <a:off x="837724" y="3415070"/>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Movie Title</a:t>
            </a:r>
            <a:endParaRPr lang="en-US" sz="1600" dirty="0"/>
          </a:p>
        </p:txBody>
      </p:sp>
      <p:sp>
        <p:nvSpPr>
          <p:cNvPr id="7" name="Text 4"/>
          <p:cNvSpPr/>
          <p:nvPr/>
        </p:nvSpPr>
        <p:spPr>
          <a:xfrm>
            <a:off x="837724" y="3767495"/>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Official title of the movie for identification and display purposes</a:t>
            </a:r>
            <a:endParaRPr lang="en-US" sz="14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9736" y="2780943"/>
            <a:ext cx="445056" cy="445056"/>
          </a:xfrm>
          <a:prstGeom prst="rect">
            <a:avLst/>
          </a:prstGeom>
        </p:spPr>
      </p:pic>
      <p:sp>
        <p:nvSpPr>
          <p:cNvPr id="9" name="Text 5"/>
          <p:cNvSpPr/>
          <p:nvPr/>
        </p:nvSpPr>
        <p:spPr>
          <a:xfrm>
            <a:off x="7409736" y="3415070"/>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Genre</a:t>
            </a:r>
            <a:endParaRPr lang="en-US" sz="1600" dirty="0"/>
          </a:p>
        </p:txBody>
      </p:sp>
      <p:sp>
        <p:nvSpPr>
          <p:cNvPr id="10" name="Text 6"/>
          <p:cNvSpPr/>
          <p:nvPr/>
        </p:nvSpPr>
        <p:spPr>
          <a:xfrm>
            <a:off x="7409736" y="3767495"/>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Category classifications such as action, comedy, drama, or thriller</a:t>
            </a:r>
            <a:endParaRPr lang="en-US" sz="140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7724" y="4333518"/>
            <a:ext cx="445056" cy="445056"/>
          </a:xfrm>
          <a:prstGeom prst="rect">
            <a:avLst/>
          </a:prstGeom>
        </p:spPr>
      </p:pic>
      <p:sp>
        <p:nvSpPr>
          <p:cNvPr id="12" name="Text 7"/>
          <p:cNvSpPr/>
          <p:nvPr/>
        </p:nvSpPr>
        <p:spPr>
          <a:xfrm>
            <a:off x="837724" y="4967645"/>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Cast</a:t>
            </a:r>
            <a:endParaRPr lang="en-US" sz="1600" dirty="0"/>
          </a:p>
        </p:txBody>
      </p:sp>
      <p:sp>
        <p:nvSpPr>
          <p:cNvPr id="13" name="Text 8"/>
          <p:cNvSpPr/>
          <p:nvPr/>
        </p:nvSpPr>
        <p:spPr>
          <a:xfrm>
            <a:off x="837724" y="5320070"/>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Lead actors and supporting performers in the movie</a:t>
            </a:r>
            <a:endParaRPr lang="en-US" sz="1400" dirty="0"/>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9736" y="4333518"/>
            <a:ext cx="445056" cy="445056"/>
          </a:xfrm>
          <a:prstGeom prst="rect">
            <a:avLst/>
          </a:prstGeom>
        </p:spPr>
      </p:pic>
      <p:sp>
        <p:nvSpPr>
          <p:cNvPr id="15" name="Text 9"/>
          <p:cNvSpPr/>
          <p:nvPr/>
        </p:nvSpPr>
        <p:spPr>
          <a:xfrm>
            <a:off x="7409736" y="4967645"/>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Keywords</a:t>
            </a:r>
            <a:endParaRPr lang="en-US" sz="1600" dirty="0"/>
          </a:p>
        </p:txBody>
      </p:sp>
      <p:sp>
        <p:nvSpPr>
          <p:cNvPr id="16" name="Text 10"/>
          <p:cNvSpPr/>
          <p:nvPr/>
        </p:nvSpPr>
        <p:spPr>
          <a:xfrm>
            <a:off x="7409736" y="5320070"/>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Descriptive terms capturing themes, settings, and concepts</a:t>
            </a:r>
            <a:endParaRPr lang="en-US" sz="1400" dirty="0"/>
          </a:p>
        </p:txBody>
      </p:sp>
      <p:pic>
        <p:nvPicPr>
          <p:cNvPr id="1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7724" y="5886093"/>
            <a:ext cx="445056" cy="445056"/>
          </a:xfrm>
          <a:prstGeom prst="rect">
            <a:avLst/>
          </a:prstGeom>
        </p:spPr>
      </p:pic>
      <p:sp>
        <p:nvSpPr>
          <p:cNvPr id="18" name="Text 11"/>
          <p:cNvSpPr/>
          <p:nvPr/>
        </p:nvSpPr>
        <p:spPr>
          <a:xfrm>
            <a:off x="837724" y="6520220"/>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Ratings</a:t>
            </a:r>
            <a:endParaRPr lang="en-US" sz="1600" dirty="0"/>
          </a:p>
        </p:txBody>
      </p:sp>
      <p:sp>
        <p:nvSpPr>
          <p:cNvPr id="19" name="Text 12"/>
          <p:cNvSpPr/>
          <p:nvPr/>
        </p:nvSpPr>
        <p:spPr>
          <a:xfrm>
            <a:off x="837724" y="6872645"/>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User ratings and review scores from audience members</a:t>
            </a:r>
            <a:endParaRPr lang="en-US" sz="1400" dirty="0"/>
          </a:p>
        </p:txBody>
      </p:sp>
      <p:pic>
        <p:nvPicPr>
          <p:cNvPr id="2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09736" y="5886093"/>
            <a:ext cx="445056" cy="445056"/>
          </a:xfrm>
          <a:prstGeom prst="rect">
            <a:avLst/>
          </a:prstGeom>
        </p:spPr>
      </p:pic>
      <p:sp>
        <p:nvSpPr>
          <p:cNvPr id="21" name="Text 13"/>
          <p:cNvSpPr/>
          <p:nvPr/>
        </p:nvSpPr>
        <p:spPr>
          <a:xfrm>
            <a:off x="7409736" y="6520220"/>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Overview</a:t>
            </a:r>
            <a:endParaRPr lang="en-US" sz="1600" dirty="0"/>
          </a:p>
        </p:txBody>
      </p:sp>
      <p:sp>
        <p:nvSpPr>
          <p:cNvPr id="22" name="Text 14"/>
          <p:cNvSpPr/>
          <p:nvPr/>
        </p:nvSpPr>
        <p:spPr>
          <a:xfrm>
            <a:off x="7409736" y="6872645"/>
            <a:ext cx="638294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Synopsis and plot description providing contextual information</a:t>
            </a:r>
            <a:endParaRPr lang="en-US" sz="1400" dirty="0"/>
          </a:p>
        </p:txBody>
      </p:sp>
      <p:sp>
        <p:nvSpPr>
          <p:cNvPr id="23" name="Text 15"/>
          <p:cNvSpPr/>
          <p:nvPr/>
        </p:nvSpPr>
        <p:spPr>
          <a:xfrm>
            <a:off x="837724" y="7306151"/>
            <a:ext cx="12954952"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These features will be used to determine </a:t>
            </a:r>
            <a:r>
              <a:rPr lang="en-US" sz="1400" b="1" dirty="0">
                <a:solidFill>
                  <a:srgbClr val="00002E"/>
                </a:solidFill>
                <a:latin typeface="PT Sans" pitchFamily="34" charset="0"/>
                <a:ea typeface="PT Sans" pitchFamily="34" charset="-122"/>
                <a:cs typeface="PT Sans" pitchFamily="34" charset="-120"/>
              </a:rPr>
              <a:t>similarity between movies</a:t>
            </a:r>
            <a:r>
              <a:rPr lang="en-US" sz="1400" dirty="0">
                <a:solidFill>
                  <a:srgbClr val="00002E"/>
                </a:solidFill>
                <a:latin typeface="PT Sans" pitchFamily="34" charset="0"/>
                <a:ea typeface="PT Sans" pitchFamily="34" charset="-122"/>
                <a:cs typeface="PT Sans" pitchFamily="34" charset="-120"/>
              </a:rPr>
              <a:t>, enabling the system to identify and recommend comparable titles based on shared characteristics.</a:t>
            </a:r>
            <a:endParaRPr lang="en-US" sz="1400" dirty="0"/>
          </a:p>
        </p:txBody>
      </p:sp>
      <p:sp>
        <p:nvSpPr>
          <p:cNvPr id="24" name="Watermark">
            <a:extLst>
              <a:ext uri="{FF2B5EF4-FFF2-40B4-BE49-F238E27FC236}">
                <a16:creationId xmlns:a16="http://schemas.microsoft.com/office/drawing/2014/main" id="{3CFD6B77-7545-FAC8-71C3-6B715B8BF01D}"/>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21;p16">
            <a:extLst>
              <a:ext uri="{FF2B5EF4-FFF2-40B4-BE49-F238E27FC236}">
                <a16:creationId xmlns:a16="http://schemas.microsoft.com/office/drawing/2014/main" id="{CA7F04FB-7B23-9F1B-1579-BA313C256D43}"/>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6</a:t>
            </a:fld>
            <a:endParaRPr sz="1600" b="0" i="0" u="none" strike="noStrike" cap="none" dirty="0">
              <a:solidFill>
                <a:srgbClr val="757575"/>
              </a:solidFill>
              <a:latin typeface="Nunito" pitchFamily="2" charset="0"/>
              <a:ea typeface="Arial"/>
              <a:cs typeface="Arial"/>
              <a:sym typeface="Arial"/>
            </a:endParaRPr>
          </a:p>
        </p:txBody>
      </p:sp>
      <p:grpSp>
        <p:nvGrpSpPr>
          <p:cNvPr id="26" name="Group 25">
            <a:extLst>
              <a:ext uri="{FF2B5EF4-FFF2-40B4-BE49-F238E27FC236}">
                <a16:creationId xmlns:a16="http://schemas.microsoft.com/office/drawing/2014/main" id="{C398C2C3-97CC-7011-7C79-36E40D4D665F}"/>
              </a:ext>
            </a:extLst>
          </p:cNvPr>
          <p:cNvGrpSpPr/>
          <p:nvPr/>
        </p:nvGrpSpPr>
        <p:grpSpPr>
          <a:xfrm>
            <a:off x="11984501" y="198004"/>
            <a:ext cx="2348508" cy="803700"/>
            <a:chOff x="11965987" y="253625"/>
            <a:chExt cx="2348508" cy="803700"/>
          </a:xfrm>
        </p:grpSpPr>
        <p:pic>
          <p:nvPicPr>
            <p:cNvPr id="27" name="Picture 6" descr="Galgotias-University-Logo | EROCON">
              <a:extLst>
                <a:ext uri="{FF2B5EF4-FFF2-40B4-BE49-F238E27FC236}">
                  <a16:creationId xmlns:a16="http://schemas.microsoft.com/office/drawing/2014/main" id="{D25581E9-ADE4-A3D1-7037-0881D64B118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A4FDB406-4A05-4325-3FB9-8D55BC397BBB}"/>
                </a:ext>
              </a:extLst>
            </p:cNvPr>
            <p:cNvPicPr>
              <a:picLocks noChangeAspect="1"/>
            </p:cNvPicPr>
            <p:nvPr/>
          </p:nvPicPr>
          <p:blipFill>
            <a:blip r:embed="rId16"/>
            <a:srcRect l="885" t="847" r="1416" b="805"/>
            <a:stretch>
              <a:fillRect/>
            </a:stretch>
          </p:blipFill>
          <p:spPr>
            <a:xfrm>
              <a:off x="13543389" y="253625"/>
              <a:ext cx="771106" cy="803700"/>
            </a:xfrm>
            <a:prstGeom prst="rect">
              <a:avLst/>
            </a:prstGeom>
          </p:spPr>
        </p:pic>
      </p:grpSp>
      <p:sp>
        <p:nvSpPr>
          <p:cNvPr id="29" name="Google Shape;121;p16">
            <a:extLst>
              <a:ext uri="{FF2B5EF4-FFF2-40B4-BE49-F238E27FC236}">
                <a16:creationId xmlns:a16="http://schemas.microsoft.com/office/drawing/2014/main" id="{418F0DFF-A5BE-B797-CDC8-9E392A6214CF}"/>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672346"/>
            <a:ext cx="7073027" cy="615910"/>
          </a:xfrm>
          <a:prstGeom prst="rect">
            <a:avLst/>
          </a:prstGeom>
          <a:noFill/>
          <a:ln/>
        </p:spPr>
        <p:txBody>
          <a:bodyPr wrap="none" lIns="0" tIns="0" rIns="0" bIns="0" rtlCol="0" anchor="t"/>
          <a:lstStyle/>
          <a:p>
            <a:pPr marL="0" indent="0" algn="l">
              <a:lnSpc>
                <a:spcPts val="4850"/>
              </a:lnSpc>
              <a:buNone/>
            </a:pPr>
            <a:r>
              <a:rPr lang="en-US" sz="3850" dirty="0">
                <a:solidFill>
                  <a:srgbClr val="00002E"/>
                </a:solidFill>
                <a:latin typeface="Nunito Semi Bold" pitchFamily="34" charset="0"/>
                <a:ea typeface="Nunito Semi Bold" pitchFamily="34" charset="-122"/>
                <a:cs typeface="Nunito Semi Bold" pitchFamily="34" charset="-120"/>
              </a:rPr>
              <a:t>Machine Learning Methodology</a:t>
            </a:r>
            <a:endParaRPr lang="en-US" sz="3850" dirty="0"/>
          </a:p>
        </p:txBody>
      </p:sp>
      <p:sp>
        <p:nvSpPr>
          <p:cNvPr id="3" name="Text 1"/>
          <p:cNvSpPr/>
          <p:nvPr/>
        </p:nvSpPr>
        <p:spPr>
          <a:xfrm>
            <a:off x="837724" y="1707118"/>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The project follows the </a:t>
            </a:r>
            <a:r>
              <a:rPr lang="en-US" sz="1600" b="1" dirty="0">
                <a:solidFill>
                  <a:srgbClr val="00002E"/>
                </a:solidFill>
                <a:latin typeface="PT Sans" pitchFamily="34" charset="0"/>
                <a:ea typeface="PT Sans" pitchFamily="34" charset="-122"/>
                <a:cs typeface="PT Sans" pitchFamily="34" charset="-120"/>
              </a:rPr>
              <a:t>Machine Learning Development Life Cycle</a:t>
            </a:r>
            <a:r>
              <a:rPr lang="en-US" sz="1600" dirty="0">
                <a:solidFill>
                  <a:srgbClr val="00002E"/>
                </a:solidFill>
                <a:latin typeface="PT Sans" pitchFamily="34" charset="0"/>
                <a:ea typeface="PT Sans" pitchFamily="34" charset="-122"/>
                <a:cs typeface="PT Sans" pitchFamily="34" charset="-120"/>
              </a:rPr>
              <a:t>, a systematic approach to building effective recommendation systems:</a:t>
            </a:r>
            <a:endParaRPr lang="en-US" sz="1600" dirty="0"/>
          </a:p>
        </p:txBody>
      </p:sp>
      <p:sp>
        <p:nvSpPr>
          <p:cNvPr id="4" name="Text 2"/>
          <p:cNvSpPr/>
          <p:nvPr/>
        </p:nvSpPr>
        <p:spPr>
          <a:xfrm>
            <a:off x="2374583" y="2277785"/>
            <a:ext cx="2464118" cy="308015"/>
          </a:xfrm>
          <a:prstGeom prst="rect">
            <a:avLst/>
          </a:prstGeom>
          <a:noFill/>
          <a:ln/>
        </p:spPr>
        <p:txBody>
          <a:bodyPr wrap="none" lIns="0" tIns="0" rIns="0" bIns="0" rtlCol="0" anchor="t"/>
          <a:lstStyle/>
          <a:p>
            <a:pPr marL="0" indent="0" algn="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Data Collection</a:t>
            </a:r>
            <a:endParaRPr lang="en-US" sz="1900" dirty="0"/>
          </a:p>
        </p:txBody>
      </p:sp>
      <p:sp>
        <p:nvSpPr>
          <p:cNvPr id="5" name="Text 3"/>
          <p:cNvSpPr/>
          <p:nvPr/>
        </p:nvSpPr>
        <p:spPr>
          <a:xfrm>
            <a:off x="837724" y="2711410"/>
            <a:ext cx="4000976" cy="1340168"/>
          </a:xfrm>
          <a:prstGeom prst="rect">
            <a:avLst/>
          </a:prstGeom>
          <a:noFill/>
          <a:ln/>
        </p:spPr>
        <p:txBody>
          <a:bodyPr wrap="square" lIns="0" tIns="0" rIns="0" bIns="0" rtlCol="0" anchor="t"/>
          <a:lstStyle/>
          <a:p>
            <a:pPr marL="0" indent="0" algn="r">
              <a:lnSpc>
                <a:spcPts val="2600"/>
              </a:lnSpc>
              <a:buNone/>
            </a:pPr>
            <a:r>
              <a:rPr lang="en-US" sz="1600" dirty="0">
                <a:solidFill>
                  <a:srgbClr val="00002E"/>
                </a:solidFill>
                <a:latin typeface="PT Sans" pitchFamily="34" charset="0"/>
                <a:ea typeface="PT Sans" pitchFamily="34" charset="-122"/>
                <a:cs typeface="PT Sans" pitchFamily="34" charset="-120"/>
              </a:rPr>
              <a:t>Gather movie datasets from reliable sources like MovieLens or Kaggle, ensuring comprehensive coverage of titles and attributes</a:t>
            </a:r>
            <a:endParaRPr lang="en-US" sz="1600" dirty="0"/>
          </a:p>
        </p:txBody>
      </p:sp>
      <p:pic>
        <p:nvPicPr>
          <p:cNvPr id="6" name="Image 0" descr="preencoded.png"/>
          <p:cNvPicPr>
            <a:picLocks noChangeAspect="1"/>
          </p:cNvPicPr>
          <p:nvPr/>
        </p:nvPicPr>
        <p:blipFill>
          <a:blip r:embed="rId3"/>
          <a:stretch>
            <a:fillRect/>
          </a:stretch>
        </p:blipFill>
        <p:spPr>
          <a:xfrm>
            <a:off x="5048131" y="2650450"/>
            <a:ext cx="4534138" cy="4534138"/>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3088" y="3270528"/>
            <a:ext cx="313373" cy="313373"/>
          </a:xfrm>
          <a:prstGeom prst="rect">
            <a:avLst/>
          </a:prstGeom>
        </p:spPr>
      </p:pic>
      <p:sp>
        <p:nvSpPr>
          <p:cNvPr id="8" name="Text 4"/>
          <p:cNvSpPr/>
          <p:nvPr/>
        </p:nvSpPr>
        <p:spPr>
          <a:xfrm>
            <a:off x="9791700" y="2445306"/>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Data Preprocessing</a:t>
            </a:r>
            <a:endParaRPr lang="en-US" sz="1900" dirty="0"/>
          </a:p>
        </p:txBody>
      </p:sp>
      <p:sp>
        <p:nvSpPr>
          <p:cNvPr id="9" name="Text 5"/>
          <p:cNvSpPr/>
          <p:nvPr/>
        </p:nvSpPr>
        <p:spPr>
          <a:xfrm>
            <a:off x="9791700" y="2878931"/>
            <a:ext cx="4000976" cy="1005126"/>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Clean and structure data by handling missing values, removing duplicates, and standardizing formats for consistency</a:t>
            </a:r>
            <a:endParaRPr lang="en-US" sz="1600" dirty="0"/>
          </a:p>
        </p:txBody>
      </p:sp>
      <p:pic>
        <p:nvPicPr>
          <p:cNvPr id="10" name="Image 2" descr="preencoded.png"/>
          <p:cNvPicPr>
            <a:picLocks noChangeAspect="1"/>
          </p:cNvPicPr>
          <p:nvPr/>
        </p:nvPicPr>
        <p:blipFill>
          <a:blip r:embed="rId6"/>
          <a:stretch>
            <a:fillRect/>
          </a:stretch>
        </p:blipFill>
        <p:spPr>
          <a:xfrm>
            <a:off x="5048131" y="2650450"/>
            <a:ext cx="4534138" cy="4534138"/>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76379" y="3543300"/>
            <a:ext cx="313373" cy="313373"/>
          </a:xfrm>
          <a:prstGeom prst="rect">
            <a:avLst/>
          </a:prstGeom>
        </p:spPr>
      </p:pic>
      <p:sp>
        <p:nvSpPr>
          <p:cNvPr id="12" name="Text 6"/>
          <p:cNvSpPr/>
          <p:nvPr/>
        </p:nvSpPr>
        <p:spPr>
          <a:xfrm>
            <a:off x="10001131" y="4365665"/>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Feature Extraction</a:t>
            </a:r>
            <a:endParaRPr lang="en-US" sz="1900" dirty="0"/>
          </a:p>
        </p:txBody>
      </p:sp>
      <p:sp>
        <p:nvSpPr>
          <p:cNvPr id="13" name="Text 7"/>
          <p:cNvSpPr/>
          <p:nvPr/>
        </p:nvSpPr>
        <p:spPr>
          <a:xfrm>
            <a:off x="10001131" y="4799290"/>
            <a:ext cx="3791545" cy="1005126"/>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Extract relevant features from text fields using techniques like TF-IDF vectorization to create numerical representations</a:t>
            </a:r>
            <a:endParaRPr lang="en-US" sz="1600" dirty="0"/>
          </a:p>
        </p:txBody>
      </p:sp>
      <p:pic>
        <p:nvPicPr>
          <p:cNvPr id="14" name="Image 4" descr="preencoded.png"/>
          <p:cNvPicPr>
            <a:picLocks noChangeAspect="1"/>
          </p:cNvPicPr>
          <p:nvPr/>
        </p:nvPicPr>
        <p:blipFill>
          <a:blip r:embed="rId9"/>
          <a:stretch>
            <a:fillRect/>
          </a:stretch>
        </p:blipFill>
        <p:spPr>
          <a:xfrm>
            <a:off x="5048131" y="2650450"/>
            <a:ext cx="4534138" cy="4534138"/>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21804" y="5033605"/>
            <a:ext cx="313373" cy="313373"/>
          </a:xfrm>
          <a:prstGeom prst="rect">
            <a:avLst/>
          </a:prstGeom>
        </p:spPr>
      </p:pic>
      <p:sp>
        <p:nvSpPr>
          <p:cNvPr id="16" name="Text 8"/>
          <p:cNvSpPr/>
          <p:nvPr/>
        </p:nvSpPr>
        <p:spPr>
          <a:xfrm>
            <a:off x="9791700" y="6118503"/>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Model Development</a:t>
            </a:r>
            <a:endParaRPr lang="en-US" sz="1900" dirty="0"/>
          </a:p>
        </p:txBody>
      </p:sp>
      <p:sp>
        <p:nvSpPr>
          <p:cNvPr id="17" name="Text 9"/>
          <p:cNvSpPr/>
          <p:nvPr/>
        </p:nvSpPr>
        <p:spPr>
          <a:xfrm>
            <a:off x="9791700" y="6552128"/>
            <a:ext cx="4000976" cy="1005126"/>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Build the recommendation engine using content-based filtering algorithms and similarity calculation methods</a:t>
            </a:r>
            <a:endParaRPr lang="en-US" sz="1600" dirty="0"/>
          </a:p>
        </p:txBody>
      </p:sp>
      <p:pic>
        <p:nvPicPr>
          <p:cNvPr id="18" name="Image 6" descr="preencoded.png"/>
          <p:cNvPicPr>
            <a:picLocks noChangeAspect="1"/>
          </p:cNvPicPr>
          <p:nvPr/>
        </p:nvPicPr>
        <p:blipFill>
          <a:blip r:embed="rId12"/>
          <a:stretch>
            <a:fillRect/>
          </a:stretch>
        </p:blipFill>
        <p:spPr>
          <a:xfrm>
            <a:off x="5048131" y="2650450"/>
            <a:ext cx="4534138" cy="4534138"/>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03820" y="6251019"/>
            <a:ext cx="313373" cy="313373"/>
          </a:xfrm>
          <a:prstGeom prst="rect">
            <a:avLst/>
          </a:prstGeom>
        </p:spPr>
      </p:pic>
      <p:sp>
        <p:nvSpPr>
          <p:cNvPr id="20" name="Text 10"/>
          <p:cNvSpPr/>
          <p:nvPr/>
        </p:nvSpPr>
        <p:spPr>
          <a:xfrm>
            <a:off x="2374583" y="6118503"/>
            <a:ext cx="2464118" cy="308015"/>
          </a:xfrm>
          <a:prstGeom prst="rect">
            <a:avLst/>
          </a:prstGeom>
          <a:noFill/>
          <a:ln/>
        </p:spPr>
        <p:txBody>
          <a:bodyPr wrap="none" lIns="0" tIns="0" rIns="0" bIns="0" rtlCol="0" anchor="t"/>
          <a:lstStyle/>
          <a:p>
            <a:pPr marL="0" indent="0" algn="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Similarity Calculation</a:t>
            </a:r>
            <a:endParaRPr lang="en-US" sz="1900" dirty="0"/>
          </a:p>
        </p:txBody>
      </p:sp>
      <p:sp>
        <p:nvSpPr>
          <p:cNvPr id="21" name="Text 11"/>
          <p:cNvSpPr/>
          <p:nvPr/>
        </p:nvSpPr>
        <p:spPr>
          <a:xfrm>
            <a:off x="837724" y="6552128"/>
            <a:ext cx="4000976" cy="1005126"/>
          </a:xfrm>
          <a:prstGeom prst="rect">
            <a:avLst/>
          </a:prstGeom>
          <a:noFill/>
          <a:ln/>
        </p:spPr>
        <p:txBody>
          <a:bodyPr wrap="square" lIns="0" tIns="0" rIns="0" bIns="0" rtlCol="0" anchor="t"/>
          <a:lstStyle/>
          <a:p>
            <a:pPr marL="0" indent="0" algn="r">
              <a:lnSpc>
                <a:spcPts val="2600"/>
              </a:lnSpc>
              <a:buNone/>
            </a:pPr>
            <a:r>
              <a:rPr lang="en-US" sz="1600" dirty="0">
                <a:solidFill>
                  <a:srgbClr val="00002E"/>
                </a:solidFill>
                <a:latin typeface="PT Sans" pitchFamily="34" charset="0"/>
                <a:ea typeface="PT Sans" pitchFamily="34" charset="-122"/>
                <a:cs typeface="PT Sans" pitchFamily="34" charset="-120"/>
              </a:rPr>
              <a:t>Compute cosine similarity between movie vectors to identify closely related titles based on feature matching</a:t>
            </a:r>
            <a:endParaRPr lang="en-US" sz="1600" dirty="0"/>
          </a:p>
        </p:txBody>
      </p:sp>
      <p:pic>
        <p:nvPicPr>
          <p:cNvPr id="22" name="Image 8" descr="preencoded.png"/>
          <p:cNvPicPr>
            <a:picLocks noChangeAspect="1"/>
          </p:cNvPicPr>
          <p:nvPr/>
        </p:nvPicPr>
        <p:blipFill>
          <a:blip r:embed="rId15"/>
          <a:stretch>
            <a:fillRect/>
          </a:stretch>
        </p:blipFill>
        <p:spPr>
          <a:xfrm>
            <a:off x="5048131" y="2650450"/>
            <a:ext cx="4534138" cy="4534138"/>
          </a:xfrm>
          <a:prstGeom prst="rect">
            <a:avLst/>
          </a:prstGeom>
        </p:spPr>
      </p:pic>
      <p:pic>
        <p:nvPicPr>
          <p:cNvPr id="23"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40529" y="5978247"/>
            <a:ext cx="313373" cy="313373"/>
          </a:xfrm>
          <a:prstGeom prst="rect">
            <a:avLst/>
          </a:prstGeom>
        </p:spPr>
      </p:pic>
      <p:sp>
        <p:nvSpPr>
          <p:cNvPr id="24" name="Text 12"/>
          <p:cNvSpPr/>
          <p:nvPr/>
        </p:nvSpPr>
        <p:spPr>
          <a:xfrm>
            <a:off x="1361956" y="4365665"/>
            <a:ext cx="3267313" cy="308015"/>
          </a:xfrm>
          <a:prstGeom prst="rect">
            <a:avLst/>
          </a:prstGeom>
          <a:noFill/>
          <a:ln/>
        </p:spPr>
        <p:txBody>
          <a:bodyPr wrap="none" lIns="0" tIns="0" rIns="0" bIns="0" rtlCol="0" anchor="t"/>
          <a:lstStyle/>
          <a:p>
            <a:pPr marL="0" indent="0" algn="r">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Recommendation Generation</a:t>
            </a:r>
            <a:endParaRPr lang="en-US" sz="1900" dirty="0"/>
          </a:p>
        </p:txBody>
      </p:sp>
      <p:sp>
        <p:nvSpPr>
          <p:cNvPr id="25" name="Text 13"/>
          <p:cNvSpPr/>
          <p:nvPr/>
        </p:nvSpPr>
        <p:spPr>
          <a:xfrm>
            <a:off x="837724" y="4799290"/>
            <a:ext cx="3791545" cy="1005126"/>
          </a:xfrm>
          <a:prstGeom prst="rect">
            <a:avLst/>
          </a:prstGeom>
          <a:noFill/>
          <a:ln/>
        </p:spPr>
        <p:txBody>
          <a:bodyPr wrap="square" lIns="0" tIns="0" rIns="0" bIns="0" rtlCol="0" anchor="t"/>
          <a:lstStyle/>
          <a:p>
            <a:pPr marL="0" indent="0" algn="r">
              <a:lnSpc>
                <a:spcPts val="2600"/>
              </a:lnSpc>
              <a:buNone/>
            </a:pPr>
            <a:r>
              <a:rPr lang="en-US" sz="1600" dirty="0">
                <a:solidFill>
                  <a:srgbClr val="00002E"/>
                </a:solidFill>
                <a:latin typeface="PT Sans" pitchFamily="34" charset="0"/>
                <a:ea typeface="PT Sans" pitchFamily="34" charset="-122"/>
                <a:cs typeface="PT Sans" pitchFamily="34" charset="-120"/>
              </a:rPr>
              <a:t>Generate and present top movie recommendations to users based on calculated similarity scores</a:t>
            </a:r>
            <a:endParaRPr lang="en-US" sz="1600" dirty="0"/>
          </a:p>
        </p:txBody>
      </p:sp>
      <p:pic>
        <p:nvPicPr>
          <p:cNvPr id="26" name="Image 10" descr="preencoded.png"/>
          <p:cNvPicPr>
            <a:picLocks noChangeAspect="1"/>
          </p:cNvPicPr>
          <p:nvPr/>
        </p:nvPicPr>
        <p:blipFill>
          <a:blip r:embed="rId18"/>
          <a:stretch>
            <a:fillRect/>
          </a:stretch>
        </p:blipFill>
        <p:spPr>
          <a:xfrm>
            <a:off x="5048131" y="2650450"/>
            <a:ext cx="4534138" cy="4534138"/>
          </a:xfrm>
          <a:prstGeom prst="rect">
            <a:avLst/>
          </a:prstGeom>
        </p:spPr>
      </p:pic>
      <p:pic>
        <p:nvPicPr>
          <p:cNvPr id="27"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595104" y="4487942"/>
            <a:ext cx="313373" cy="313373"/>
          </a:xfrm>
          <a:prstGeom prst="rect">
            <a:avLst/>
          </a:prstGeom>
        </p:spPr>
      </p:pic>
      <p:sp>
        <p:nvSpPr>
          <p:cNvPr id="28" name="Watermark">
            <a:extLst>
              <a:ext uri="{FF2B5EF4-FFF2-40B4-BE49-F238E27FC236}">
                <a16:creationId xmlns:a16="http://schemas.microsoft.com/office/drawing/2014/main" id="{228116B5-8E16-30DF-5469-090EFA93A5BD}"/>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Google Shape;121;p16">
            <a:extLst>
              <a:ext uri="{FF2B5EF4-FFF2-40B4-BE49-F238E27FC236}">
                <a16:creationId xmlns:a16="http://schemas.microsoft.com/office/drawing/2014/main" id="{0570272D-34EE-0FE5-95DD-5D831254F9F1}"/>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7</a:t>
            </a:fld>
            <a:endParaRPr sz="1600" b="0" i="0" u="none" strike="noStrike" cap="none" dirty="0">
              <a:solidFill>
                <a:srgbClr val="757575"/>
              </a:solidFill>
              <a:latin typeface="Nunito" pitchFamily="2" charset="0"/>
              <a:ea typeface="Arial"/>
              <a:cs typeface="Arial"/>
              <a:sym typeface="Arial"/>
            </a:endParaRPr>
          </a:p>
        </p:txBody>
      </p:sp>
      <p:grpSp>
        <p:nvGrpSpPr>
          <p:cNvPr id="30" name="Group 29">
            <a:extLst>
              <a:ext uri="{FF2B5EF4-FFF2-40B4-BE49-F238E27FC236}">
                <a16:creationId xmlns:a16="http://schemas.microsoft.com/office/drawing/2014/main" id="{AB43A46B-CDF9-9E4D-4E4D-1DAF36C25345}"/>
              </a:ext>
            </a:extLst>
          </p:cNvPr>
          <p:cNvGrpSpPr/>
          <p:nvPr/>
        </p:nvGrpSpPr>
        <p:grpSpPr>
          <a:xfrm>
            <a:off x="11984501" y="198004"/>
            <a:ext cx="2348508" cy="803700"/>
            <a:chOff x="11965987" y="253625"/>
            <a:chExt cx="2348508" cy="803700"/>
          </a:xfrm>
        </p:grpSpPr>
        <p:pic>
          <p:nvPicPr>
            <p:cNvPr id="31" name="Picture 6" descr="Galgotias-University-Logo | EROCON">
              <a:extLst>
                <a:ext uri="{FF2B5EF4-FFF2-40B4-BE49-F238E27FC236}">
                  <a16:creationId xmlns:a16="http://schemas.microsoft.com/office/drawing/2014/main" id="{300EB955-71A1-1306-3FBB-C943AD3F28D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69988A17-7E3A-A846-B26D-104CF6D589C0}"/>
                </a:ext>
              </a:extLst>
            </p:cNvPr>
            <p:cNvPicPr>
              <a:picLocks noChangeAspect="1"/>
            </p:cNvPicPr>
            <p:nvPr/>
          </p:nvPicPr>
          <p:blipFill>
            <a:blip r:embed="rId22"/>
            <a:srcRect l="885" t="847" r="1416" b="805"/>
            <a:stretch>
              <a:fillRect/>
            </a:stretch>
          </p:blipFill>
          <p:spPr>
            <a:xfrm>
              <a:off x="13543389" y="253625"/>
              <a:ext cx="771106" cy="803700"/>
            </a:xfrm>
            <a:prstGeom prst="rect">
              <a:avLst/>
            </a:prstGeom>
          </p:spPr>
        </p:pic>
      </p:grpSp>
      <p:sp>
        <p:nvSpPr>
          <p:cNvPr id="33" name="Google Shape;121;p16">
            <a:extLst>
              <a:ext uri="{FF2B5EF4-FFF2-40B4-BE49-F238E27FC236}">
                <a16:creationId xmlns:a16="http://schemas.microsoft.com/office/drawing/2014/main" id="{96E7A97E-6B4B-E0D4-6B78-6B832C96D6CA}"/>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843201"/>
            <a:ext cx="4189095" cy="523518"/>
          </a:xfrm>
          <a:prstGeom prst="rect">
            <a:avLst/>
          </a:prstGeom>
          <a:noFill/>
          <a:ln/>
        </p:spPr>
        <p:txBody>
          <a:bodyPr wrap="none" lIns="0" tIns="0" rIns="0" bIns="0" rtlCol="0" anchor="t"/>
          <a:lstStyle/>
          <a:p>
            <a:pPr marL="0" indent="0" algn="l">
              <a:lnSpc>
                <a:spcPts val="4100"/>
              </a:lnSpc>
              <a:buNone/>
            </a:pPr>
            <a:r>
              <a:rPr lang="en-US" sz="3250" dirty="0">
                <a:solidFill>
                  <a:srgbClr val="00002E"/>
                </a:solidFill>
                <a:latin typeface="Nunito Semi Bold" pitchFamily="34" charset="0"/>
                <a:ea typeface="Nunito Semi Bold" pitchFamily="34" charset="-122"/>
                <a:cs typeface="Nunito Semi Bold" pitchFamily="34" charset="-120"/>
              </a:rPr>
              <a:t>Core Techniques</a:t>
            </a:r>
            <a:endParaRPr lang="en-US" sz="3250" dirty="0"/>
          </a:p>
        </p:txBody>
      </p:sp>
      <p:sp>
        <p:nvSpPr>
          <p:cNvPr id="3" name="Text 1"/>
          <p:cNvSpPr/>
          <p:nvPr/>
        </p:nvSpPr>
        <p:spPr>
          <a:xfrm>
            <a:off x="837724" y="1593652"/>
            <a:ext cx="12954952"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The system will use </a:t>
            </a:r>
            <a:r>
              <a:rPr lang="en-US" sz="1400" b="1" dirty="0">
                <a:solidFill>
                  <a:srgbClr val="2D4DF2"/>
                </a:solidFill>
                <a:latin typeface="PT Sans" pitchFamily="34" charset="0"/>
                <a:ea typeface="PT Sans" pitchFamily="34" charset="-122"/>
                <a:cs typeface="PT Sans" pitchFamily="34" charset="-120"/>
              </a:rPr>
              <a:t>Content-Based Filtering</a:t>
            </a:r>
            <a:r>
              <a:rPr lang="en-US" sz="1400" dirty="0">
                <a:solidFill>
                  <a:srgbClr val="00002E"/>
                </a:solidFill>
                <a:latin typeface="PT Sans" pitchFamily="34" charset="0"/>
                <a:ea typeface="PT Sans" pitchFamily="34" charset="-122"/>
                <a:cs typeface="PT Sans" pitchFamily="34" charset="-120"/>
              </a:rPr>
              <a:t> with the following technical approaches:</a:t>
            </a:r>
            <a:endParaRPr lang="en-US" sz="1400" dirty="0"/>
          </a:p>
        </p:txBody>
      </p:sp>
      <p:sp>
        <p:nvSpPr>
          <p:cNvPr id="4" name="Shape 2"/>
          <p:cNvSpPr/>
          <p:nvPr/>
        </p:nvSpPr>
        <p:spPr>
          <a:xfrm>
            <a:off x="837724" y="2027158"/>
            <a:ext cx="12954952" cy="1265634"/>
          </a:xfrm>
          <a:prstGeom prst="roundRect">
            <a:avLst>
              <a:gd name="adj" fmla="val 21101"/>
            </a:avLst>
          </a:prstGeom>
          <a:solidFill>
            <a:srgbClr val="F3F3FF"/>
          </a:solidFill>
          <a:ln w="15240">
            <a:solidFill>
              <a:srgbClr val="2D4DF2"/>
            </a:solidFill>
            <a:prstDash val="solid"/>
          </a:ln>
        </p:spPr>
      </p:sp>
      <p:sp>
        <p:nvSpPr>
          <p:cNvPr id="5" name="Shape 3"/>
          <p:cNvSpPr/>
          <p:nvPr/>
        </p:nvSpPr>
        <p:spPr>
          <a:xfrm>
            <a:off x="852964" y="2042398"/>
            <a:ext cx="6462236" cy="1235154"/>
          </a:xfrm>
          <a:prstGeom prst="roundRect">
            <a:avLst>
              <a:gd name="adj" fmla="val 21622"/>
            </a:avLst>
          </a:prstGeom>
          <a:solidFill>
            <a:srgbClr val="F3F3FF"/>
          </a:solidFill>
          <a:ln/>
        </p:spPr>
      </p:sp>
      <p:sp>
        <p:nvSpPr>
          <p:cNvPr id="6" name="Text 4"/>
          <p:cNvSpPr/>
          <p:nvPr/>
        </p:nvSpPr>
        <p:spPr>
          <a:xfrm>
            <a:off x="1030962" y="2220397"/>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TF-IDF Vectorization</a:t>
            </a:r>
            <a:endParaRPr lang="en-US" sz="1600" dirty="0"/>
          </a:p>
        </p:txBody>
      </p:sp>
      <p:sp>
        <p:nvSpPr>
          <p:cNvPr id="7" name="Text 5"/>
          <p:cNvSpPr/>
          <p:nvPr/>
        </p:nvSpPr>
        <p:spPr>
          <a:xfrm>
            <a:off x="1030962" y="2572822"/>
            <a:ext cx="6106239"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Convert text features (genres, keywords, overview) into numerical vectors that capture semantic meaning</a:t>
            </a:r>
            <a:endParaRPr lang="en-US" sz="1400" dirty="0"/>
          </a:p>
        </p:txBody>
      </p:sp>
      <p:sp>
        <p:nvSpPr>
          <p:cNvPr id="8" name="Shape 6"/>
          <p:cNvSpPr/>
          <p:nvPr/>
        </p:nvSpPr>
        <p:spPr>
          <a:xfrm>
            <a:off x="7315200" y="2042398"/>
            <a:ext cx="6462236" cy="1235154"/>
          </a:xfrm>
          <a:prstGeom prst="rect">
            <a:avLst/>
          </a:prstGeom>
          <a:solidFill>
            <a:srgbClr val="F3F3FF"/>
          </a:solidFill>
          <a:ln/>
        </p:spPr>
      </p:sp>
      <p:sp>
        <p:nvSpPr>
          <p:cNvPr id="9" name="Shape 7"/>
          <p:cNvSpPr/>
          <p:nvPr/>
        </p:nvSpPr>
        <p:spPr>
          <a:xfrm>
            <a:off x="7315200" y="2042398"/>
            <a:ext cx="22860" cy="1235154"/>
          </a:xfrm>
          <a:prstGeom prst="roundRect">
            <a:avLst>
              <a:gd name="adj" fmla="val 1168240"/>
            </a:avLst>
          </a:prstGeom>
          <a:solidFill>
            <a:srgbClr val="1AA5FA"/>
          </a:solidFill>
          <a:ln/>
        </p:spPr>
      </p:sp>
      <p:sp>
        <p:nvSpPr>
          <p:cNvPr id="10" name="Text 8"/>
          <p:cNvSpPr/>
          <p:nvPr/>
        </p:nvSpPr>
        <p:spPr>
          <a:xfrm>
            <a:off x="7493198" y="2220397"/>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Cosine Similarity</a:t>
            </a:r>
            <a:endParaRPr lang="en-US" sz="1600" dirty="0"/>
          </a:p>
        </p:txBody>
      </p:sp>
      <p:sp>
        <p:nvSpPr>
          <p:cNvPr id="11" name="Text 9"/>
          <p:cNvSpPr/>
          <p:nvPr/>
        </p:nvSpPr>
        <p:spPr>
          <a:xfrm>
            <a:off x="7493198" y="2572822"/>
            <a:ext cx="6106239"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Measure similarity between movie vectors using cosine angles, producing scores between 0 and 1</a:t>
            </a:r>
            <a:endParaRPr lang="en-US" sz="1400" dirty="0"/>
          </a:p>
        </p:txBody>
      </p:sp>
      <p:sp>
        <p:nvSpPr>
          <p:cNvPr id="12" name="Text 10"/>
          <p:cNvSpPr/>
          <p:nvPr/>
        </p:nvSpPr>
        <p:spPr>
          <a:xfrm>
            <a:off x="837724" y="3519726"/>
            <a:ext cx="4189095" cy="523518"/>
          </a:xfrm>
          <a:prstGeom prst="rect">
            <a:avLst/>
          </a:prstGeom>
          <a:noFill/>
          <a:ln/>
        </p:spPr>
        <p:txBody>
          <a:bodyPr wrap="none" lIns="0" tIns="0" rIns="0" bIns="0" rtlCol="0" anchor="t"/>
          <a:lstStyle/>
          <a:p>
            <a:pPr marL="0" indent="0" algn="l">
              <a:lnSpc>
                <a:spcPts val="4100"/>
              </a:lnSpc>
              <a:buNone/>
            </a:pPr>
            <a:r>
              <a:rPr lang="en-US" sz="3250" dirty="0">
                <a:solidFill>
                  <a:srgbClr val="00002E"/>
                </a:solidFill>
                <a:latin typeface="Nunito Semi Bold" pitchFamily="34" charset="0"/>
                <a:ea typeface="Nunito Semi Bold" pitchFamily="34" charset="-122"/>
                <a:cs typeface="Nunito Semi Bold" pitchFamily="34" charset="-120"/>
              </a:rPr>
              <a:t>Tools &amp; Technologies</a:t>
            </a:r>
            <a:endParaRPr lang="en-US" sz="3250" dirty="0"/>
          </a:p>
        </p:txBody>
      </p:sp>
      <p:sp>
        <p:nvSpPr>
          <p:cNvPr id="13" name="Text 11"/>
          <p:cNvSpPr/>
          <p:nvPr/>
        </p:nvSpPr>
        <p:spPr>
          <a:xfrm>
            <a:off x="837724" y="4270177"/>
            <a:ext cx="12954952"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The project leverages industry-standard Python libraries and development environments commonly used for </a:t>
            </a:r>
            <a:r>
              <a:rPr lang="en-US" sz="1400" b="1" dirty="0">
                <a:solidFill>
                  <a:srgbClr val="00002E"/>
                </a:solidFill>
                <a:latin typeface="PT Sans" pitchFamily="34" charset="0"/>
                <a:ea typeface="PT Sans" pitchFamily="34" charset="-122"/>
                <a:cs typeface="PT Sans" pitchFamily="34" charset="-120"/>
              </a:rPr>
              <a:t>data preprocessing and machine learning implementation</a:t>
            </a:r>
            <a:r>
              <a:rPr lang="en-US" sz="1400" dirty="0">
                <a:solidFill>
                  <a:srgbClr val="00002E"/>
                </a:solidFill>
                <a:latin typeface="PT Sans" pitchFamily="34" charset="0"/>
                <a:ea typeface="PT Sans" pitchFamily="34" charset="-122"/>
                <a:cs typeface="PT Sans" pitchFamily="34" charset="-120"/>
              </a:rPr>
              <a:t>:</a:t>
            </a:r>
            <a:endParaRPr lang="en-US" sz="1400" dirty="0"/>
          </a:p>
        </p:txBody>
      </p:sp>
      <p:sp>
        <p:nvSpPr>
          <p:cNvPr id="26" name="Watermark">
            <a:extLst>
              <a:ext uri="{FF2B5EF4-FFF2-40B4-BE49-F238E27FC236}">
                <a16:creationId xmlns:a16="http://schemas.microsoft.com/office/drawing/2014/main" id="{D0FA765D-3A24-6521-94F2-17697E796C8C}"/>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Google Shape;121;p16">
            <a:extLst>
              <a:ext uri="{FF2B5EF4-FFF2-40B4-BE49-F238E27FC236}">
                <a16:creationId xmlns:a16="http://schemas.microsoft.com/office/drawing/2014/main" id="{F19665CA-385F-263A-5079-A149CCE2627D}"/>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8</a:t>
            </a:fld>
            <a:endParaRPr sz="1600" b="0" i="0" u="none" strike="noStrike" cap="none" dirty="0">
              <a:solidFill>
                <a:srgbClr val="757575"/>
              </a:solidFill>
              <a:latin typeface="Nunito" pitchFamily="2" charset="0"/>
              <a:ea typeface="Arial"/>
              <a:cs typeface="Arial"/>
              <a:sym typeface="Arial"/>
            </a:endParaRPr>
          </a:p>
        </p:txBody>
      </p:sp>
      <p:sp>
        <p:nvSpPr>
          <p:cNvPr id="35" name="Shape 1">
            <a:extLst>
              <a:ext uri="{FF2B5EF4-FFF2-40B4-BE49-F238E27FC236}">
                <a16:creationId xmlns:a16="http://schemas.microsoft.com/office/drawing/2014/main" id="{9164B4CB-8641-A940-47B3-6BCB1B66F91D}"/>
              </a:ext>
            </a:extLst>
          </p:cNvPr>
          <p:cNvSpPr/>
          <p:nvPr/>
        </p:nvSpPr>
        <p:spPr>
          <a:xfrm>
            <a:off x="7307580" y="4939387"/>
            <a:ext cx="15240" cy="360000"/>
          </a:xfrm>
          <a:prstGeom prst="roundRect">
            <a:avLst>
              <a:gd name="adj" fmla="val 1443120"/>
            </a:avLst>
          </a:prstGeom>
          <a:solidFill>
            <a:srgbClr val="000000">
              <a:alpha val="8000"/>
            </a:srgbClr>
          </a:solidFill>
          <a:ln/>
        </p:spPr>
      </p:sp>
      <p:grpSp>
        <p:nvGrpSpPr>
          <p:cNvPr id="28" name="Group 27">
            <a:extLst>
              <a:ext uri="{FF2B5EF4-FFF2-40B4-BE49-F238E27FC236}">
                <a16:creationId xmlns:a16="http://schemas.microsoft.com/office/drawing/2014/main" id="{BBBA8ED7-B943-36D3-92FA-A237A29B943D}"/>
              </a:ext>
            </a:extLst>
          </p:cNvPr>
          <p:cNvGrpSpPr/>
          <p:nvPr/>
        </p:nvGrpSpPr>
        <p:grpSpPr>
          <a:xfrm>
            <a:off x="11984501" y="198004"/>
            <a:ext cx="2348508" cy="803700"/>
            <a:chOff x="11965987" y="253625"/>
            <a:chExt cx="2348508" cy="803700"/>
          </a:xfrm>
        </p:grpSpPr>
        <p:pic>
          <p:nvPicPr>
            <p:cNvPr id="29" name="Picture 6" descr="Galgotias-University-Logo | EROCON">
              <a:extLst>
                <a:ext uri="{FF2B5EF4-FFF2-40B4-BE49-F238E27FC236}">
                  <a16:creationId xmlns:a16="http://schemas.microsoft.com/office/drawing/2014/main" id="{EEEE6DA5-350F-D6C5-D96B-B143B5D98E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A466D125-1EF2-4A65-5C34-7298334FFBAC}"/>
                </a:ext>
              </a:extLst>
            </p:cNvPr>
            <p:cNvPicPr>
              <a:picLocks noChangeAspect="1"/>
            </p:cNvPicPr>
            <p:nvPr/>
          </p:nvPicPr>
          <p:blipFill>
            <a:blip r:embed="rId4"/>
            <a:srcRect l="885" t="847" r="1416" b="805"/>
            <a:stretch>
              <a:fillRect/>
            </a:stretch>
          </p:blipFill>
          <p:spPr>
            <a:xfrm>
              <a:off x="13543389" y="253625"/>
              <a:ext cx="771106" cy="803700"/>
            </a:xfrm>
            <a:prstGeom prst="rect">
              <a:avLst/>
            </a:prstGeom>
          </p:spPr>
        </p:pic>
      </p:grpSp>
      <p:sp>
        <p:nvSpPr>
          <p:cNvPr id="31" name="Google Shape;121;p16">
            <a:extLst>
              <a:ext uri="{FF2B5EF4-FFF2-40B4-BE49-F238E27FC236}">
                <a16:creationId xmlns:a16="http://schemas.microsoft.com/office/drawing/2014/main" id="{2D5E2B44-E210-14EE-6E7C-4265F389AB52}"/>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
        <p:nvSpPr>
          <p:cNvPr id="14" name="Shape 12"/>
          <p:cNvSpPr/>
          <p:nvPr/>
        </p:nvSpPr>
        <p:spPr>
          <a:xfrm>
            <a:off x="837724" y="4673203"/>
            <a:ext cx="12954953" cy="375523"/>
          </a:xfrm>
          <a:prstGeom prst="roundRect">
            <a:avLst>
              <a:gd name="adj" fmla="val 21101"/>
            </a:avLst>
          </a:prstGeom>
          <a:solidFill>
            <a:srgbClr val="F3F3FF"/>
          </a:solidFill>
          <a:ln w="15240">
            <a:solidFill>
              <a:srgbClr val="2D4DF2"/>
            </a:solidFill>
            <a:prstDash val="solid"/>
          </a:ln>
        </p:spPr>
      </p:sp>
      <p:sp>
        <p:nvSpPr>
          <p:cNvPr id="15" name="Text 13"/>
          <p:cNvSpPr/>
          <p:nvPr/>
        </p:nvSpPr>
        <p:spPr>
          <a:xfrm>
            <a:off x="6267926" y="4703683"/>
            <a:ext cx="2094548" cy="261699"/>
          </a:xfrm>
          <a:prstGeom prst="rect">
            <a:avLst/>
          </a:prstGeom>
          <a:noFill/>
          <a:ln/>
        </p:spPr>
        <p:txBody>
          <a:bodyPr wrap="none" lIns="0" tIns="0" rIns="0" bIns="0" rtlCol="0" anchor="t"/>
          <a:lstStyle/>
          <a:p>
            <a:pPr marL="0" indent="0" algn="ctr">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Python</a:t>
            </a:r>
            <a:endParaRPr lang="en-US" sz="1600" dirty="0"/>
          </a:p>
        </p:txBody>
      </p:sp>
      <p:grpSp>
        <p:nvGrpSpPr>
          <p:cNvPr id="32" name="Group 31">
            <a:extLst>
              <a:ext uri="{FF2B5EF4-FFF2-40B4-BE49-F238E27FC236}">
                <a16:creationId xmlns:a16="http://schemas.microsoft.com/office/drawing/2014/main" id="{03C849BB-A4C0-FE4E-7A5F-0A183D814F8F}"/>
              </a:ext>
            </a:extLst>
          </p:cNvPr>
          <p:cNvGrpSpPr/>
          <p:nvPr/>
        </p:nvGrpSpPr>
        <p:grpSpPr>
          <a:xfrm>
            <a:off x="4114264" y="5206444"/>
            <a:ext cx="6401872" cy="1265634"/>
            <a:chOff x="7390805" y="4703683"/>
            <a:chExt cx="6401872" cy="1265634"/>
          </a:xfrm>
        </p:grpSpPr>
        <p:sp>
          <p:nvSpPr>
            <p:cNvPr id="17" name="Shape 15"/>
            <p:cNvSpPr/>
            <p:nvPr/>
          </p:nvSpPr>
          <p:spPr>
            <a:xfrm>
              <a:off x="7390805" y="4703683"/>
              <a:ext cx="6401872" cy="1265634"/>
            </a:xfrm>
            <a:prstGeom prst="roundRect">
              <a:avLst>
                <a:gd name="adj" fmla="val 21101"/>
              </a:avLst>
            </a:prstGeom>
            <a:solidFill>
              <a:srgbClr val="F3F3FF"/>
            </a:solidFill>
            <a:ln w="15240">
              <a:solidFill>
                <a:srgbClr val="018CE1"/>
              </a:solidFill>
              <a:prstDash val="solid"/>
            </a:ln>
          </p:spPr>
        </p:sp>
        <p:sp>
          <p:nvSpPr>
            <p:cNvPr id="18" name="Text 16"/>
            <p:cNvSpPr/>
            <p:nvPr/>
          </p:nvSpPr>
          <p:spPr>
            <a:xfrm>
              <a:off x="7584043" y="4896922"/>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Pandas</a:t>
              </a:r>
              <a:endParaRPr lang="en-US" sz="1600" dirty="0"/>
            </a:p>
          </p:txBody>
        </p:sp>
        <p:sp>
          <p:nvSpPr>
            <p:cNvPr id="19" name="Text 17"/>
            <p:cNvSpPr/>
            <p:nvPr/>
          </p:nvSpPr>
          <p:spPr>
            <a:xfrm>
              <a:off x="7584043" y="5249347"/>
              <a:ext cx="6015395"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Powerful data manipulation library for loading, cleaning, and transforming movie datasets efficiently</a:t>
              </a:r>
              <a:endParaRPr lang="en-US" sz="1400" dirty="0"/>
            </a:p>
          </p:txBody>
        </p:sp>
      </p:grpSp>
      <p:grpSp>
        <p:nvGrpSpPr>
          <p:cNvPr id="33" name="Group 32">
            <a:extLst>
              <a:ext uri="{FF2B5EF4-FFF2-40B4-BE49-F238E27FC236}">
                <a16:creationId xmlns:a16="http://schemas.microsoft.com/office/drawing/2014/main" id="{ADCBBA40-B211-DE92-E2F0-F3153B9A26C2}"/>
              </a:ext>
            </a:extLst>
          </p:cNvPr>
          <p:cNvGrpSpPr/>
          <p:nvPr/>
        </p:nvGrpSpPr>
        <p:grpSpPr>
          <a:xfrm>
            <a:off x="837724" y="6384806"/>
            <a:ext cx="6401753" cy="1265634"/>
            <a:chOff x="837724" y="6120646"/>
            <a:chExt cx="6401753" cy="1265634"/>
          </a:xfrm>
        </p:grpSpPr>
        <p:sp>
          <p:nvSpPr>
            <p:cNvPr id="20" name="Shape 18"/>
            <p:cNvSpPr/>
            <p:nvPr/>
          </p:nvSpPr>
          <p:spPr>
            <a:xfrm>
              <a:off x="837724" y="6120646"/>
              <a:ext cx="6401753" cy="1265634"/>
            </a:xfrm>
            <a:prstGeom prst="roundRect">
              <a:avLst>
                <a:gd name="adj" fmla="val 21101"/>
              </a:avLst>
            </a:prstGeom>
            <a:solidFill>
              <a:srgbClr val="F3F3FF"/>
            </a:solidFill>
            <a:ln w="15240">
              <a:solidFill>
                <a:srgbClr val="DA33BF"/>
              </a:solidFill>
              <a:prstDash val="solid"/>
            </a:ln>
          </p:spPr>
        </p:sp>
        <p:sp>
          <p:nvSpPr>
            <p:cNvPr id="21" name="Text 19"/>
            <p:cNvSpPr/>
            <p:nvPr/>
          </p:nvSpPr>
          <p:spPr>
            <a:xfrm>
              <a:off x="1030962" y="6313884"/>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NumPy</a:t>
              </a:r>
              <a:endParaRPr lang="en-US" sz="1600" dirty="0"/>
            </a:p>
          </p:txBody>
        </p:sp>
        <p:sp>
          <p:nvSpPr>
            <p:cNvPr id="22" name="Text 20"/>
            <p:cNvSpPr/>
            <p:nvPr/>
          </p:nvSpPr>
          <p:spPr>
            <a:xfrm>
              <a:off x="1030962" y="6666309"/>
              <a:ext cx="6015276"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Essential numerical computing library for array operations and mathematical calculations</a:t>
              </a:r>
              <a:endParaRPr lang="en-US" sz="1400" dirty="0"/>
            </a:p>
          </p:txBody>
        </p:sp>
      </p:grpSp>
      <p:grpSp>
        <p:nvGrpSpPr>
          <p:cNvPr id="34" name="Group 33">
            <a:extLst>
              <a:ext uri="{FF2B5EF4-FFF2-40B4-BE49-F238E27FC236}">
                <a16:creationId xmlns:a16="http://schemas.microsoft.com/office/drawing/2014/main" id="{528AE0C7-8602-8C92-626A-E2BCD30BF4C0}"/>
              </a:ext>
            </a:extLst>
          </p:cNvPr>
          <p:cNvGrpSpPr/>
          <p:nvPr/>
        </p:nvGrpSpPr>
        <p:grpSpPr>
          <a:xfrm>
            <a:off x="7390805" y="6384806"/>
            <a:ext cx="6401872" cy="1265634"/>
            <a:chOff x="7390805" y="6120646"/>
            <a:chExt cx="6401872" cy="1265634"/>
          </a:xfrm>
        </p:grpSpPr>
        <p:sp>
          <p:nvSpPr>
            <p:cNvPr id="23" name="Shape 21"/>
            <p:cNvSpPr/>
            <p:nvPr/>
          </p:nvSpPr>
          <p:spPr>
            <a:xfrm>
              <a:off x="7390805" y="6120646"/>
              <a:ext cx="6401872" cy="1265634"/>
            </a:xfrm>
            <a:prstGeom prst="roundRect">
              <a:avLst>
                <a:gd name="adj" fmla="val 21101"/>
              </a:avLst>
            </a:prstGeom>
            <a:solidFill>
              <a:srgbClr val="F3F3FF"/>
            </a:solidFill>
            <a:ln w="15240">
              <a:solidFill>
                <a:srgbClr val="2D4DF2"/>
              </a:solidFill>
              <a:prstDash val="solid"/>
            </a:ln>
          </p:spPr>
        </p:sp>
        <p:sp>
          <p:nvSpPr>
            <p:cNvPr id="24" name="Text 22"/>
            <p:cNvSpPr/>
            <p:nvPr/>
          </p:nvSpPr>
          <p:spPr>
            <a:xfrm>
              <a:off x="7584043" y="6313884"/>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Scikit-learn</a:t>
              </a:r>
              <a:endParaRPr lang="en-US" sz="1600" dirty="0"/>
            </a:p>
          </p:txBody>
        </p:sp>
        <p:sp>
          <p:nvSpPr>
            <p:cNvPr id="25" name="Text 23"/>
            <p:cNvSpPr/>
            <p:nvPr/>
          </p:nvSpPr>
          <p:spPr>
            <a:xfrm>
              <a:off x="7584043" y="6666309"/>
              <a:ext cx="6015395" cy="526733"/>
            </a:xfrm>
            <a:prstGeom prst="rect">
              <a:avLst/>
            </a:prstGeom>
            <a:noFill/>
            <a:ln/>
          </p:spPr>
          <p:txBody>
            <a:bodyPr wrap="squar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Comprehensive machine learning framework providing TF-IDF vectorization and similarity calculation tools</a:t>
              </a:r>
              <a:endParaRPr lang="en-US" sz="1400" dirty="0"/>
            </a:p>
          </p:txBody>
        </p:sp>
      </p:grpSp>
    </p:spTree>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599956"/>
            <a:ext cx="6251615" cy="523518"/>
          </a:xfrm>
          <a:prstGeom prst="rect">
            <a:avLst/>
          </a:prstGeom>
          <a:noFill/>
          <a:ln/>
        </p:spPr>
        <p:txBody>
          <a:bodyPr wrap="none" lIns="0" tIns="0" rIns="0" bIns="0" rtlCol="0" anchor="t"/>
          <a:lstStyle/>
          <a:p>
            <a:pPr marL="0" indent="0" algn="l">
              <a:lnSpc>
                <a:spcPts val="4100"/>
              </a:lnSpc>
              <a:buNone/>
            </a:pPr>
            <a:r>
              <a:rPr lang="en-US" sz="3250" dirty="0">
                <a:solidFill>
                  <a:srgbClr val="00002E"/>
                </a:solidFill>
                <a:latin typeface="Nunito Semi Bold" pitchFamily="34" charset="0"/>
                <a:ea typeface="Nunito Semi Bold" pitchFamily="34" charset="-122"/>
                <a:cs typeface="Nunito Semi Bold" pitchFamily="34" charset="-120"/>
              </a:rPr>
              <a:t>Expected Output &amp; Future Scope</a:t>
            </a:r>
            <a:endParaRPr lang="en-US" sz="3250" dirty="0"/>
          </a:p>
        </p:txBody>
      </p:sp>
      <p:sp>
        <p:nvSpPr>
          <p:cNvPr id="3" name="Text 1"/>
          <p:cNvSpPr/>
          <p:nvPr/>
        </p:nvSpPr>
        <p:spPr>
          <a:xfrm>
            <a:off x="837724" y="1183958"/>
            <a:ext cx="2513409" cy="314087"/>
          </a:xfrm>
          <a:prstGeom prst="rect">
            <a:avLst/>
          </a:prstGeom>
          <a:noFill/>
          <a:ln/>
        </p:spPr>
        <p:txBody>
          <a:bodyPr wrap="none" lIns="0" tIns="0" rIns="0" bIns="0" rtlCol="0" anchor="t"/>
          <a:lstStyle/>
          <a:p>
            <a:pPr marL="0" indent="0" algn="l">
              <a:lnSpc>
                <a:spcPts val="2450"/>
              </a:lnSpc>
              <a:buNone/>
            </a:pPr>
            <a:r>
              <a:rPr lang="en-US" sz="1950" dirty="0">
                <a:solidFill>
                  <a:srgbClr val="00002E"/>
                </a:solidFill>
                <a:latin typeface="Nunito Semi Bold" pitchFamily="34" charset="0"/>
                <a:ea typeface="Nunito Semi Bold" pitchFamily="34" charset="-122"/>
                <a:cs typeface="Nunito Semi Bold" pitchFamily="34" charset="-120"/>
              </a:rPr>
              <a:t>Expected Output</a:t>
            </a:r>
            <a:endParaRPr lang="en-US" sz="1950" dirty="0"/>
          </a:p>
        </p:txBody>
      </p:sp>
      <p:sp>
        <p:nvSpPr>
          <p:cNvPr id="4" name="Text 2"/>
          <p:cNvSpPr/>
          <p:nvPr/>
        </p:nvSpPr>
        <p:spPr>
          <a:xfrm>
            <a:off x="837724" y="1724978"/>
            <a:ext cx="12954952"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The system will take a movie name as input and recommend </a:t>
            </a:r>
            <a:r>
              <a:rPr lang="en-US" sz="1400" b="1" dirty="0">
                <a:solidFill>
                  <a:srgbClr val="2D4DF2"/>
                </a:solidFill>
                <a:latin typeface="PT Sans" pitchFamily="34" charset="0"/>
                <a:ea typeface="PT Sans" pitchFamily="34" charset="-122"/>
                <a:cs typeface="PT Sans" pitchFamily="34" charset="-120"/>
              </a:rPr>
              <a:t>5 similar movies</a:t>
            </a:r>
            <a:r>
              <a:rPr lang="en-US" sz="1400" dirty="0">
                <a:solidFill>
                  <a:srgbClr val="00002E"/>
                </a:solidFill>
                <a:latin typeface="PT Sans" pitchFamily="34" charset="0"/>
                <a:ea typeface="PT Sans" pitchFamily="34" charset="-122"/>
                <a:cs typeface="PT Sans" pitchFamily="34" charset="-120"/>
              </a:rPr>
              <a:t> based on feature similarity calculations.</a:t>
            </a:r>
            <a:endParaRPr lang="en-US" sz="1400" dirty="0"/>
          </a:p>
        </p:txBody>
      </p:sp>
      <p:pic>
        <p:nvPicPr>
          <p:cNvPr id="5" name="Image 0" descr="preencoded.png"/>
          <p:cNvPicPr>
            <a:picLocks noChangeAspect="1"/>
          </p:cNvPicPr>
          <p:nvPr/>
        </p:nvPicPr>
        <p:blipFill>
          <a:blip r:embed="rId3"/>
          <a:stretch>
            <a:fillRect/>
          </a:stretch>
        </p:blipFill>
        <p:spPr>
          <a:xfrm>
            <a:off x="837724" y="2158484"/>
            <a:ext cx="4318278" cy="712113"/>
          </a:xfrm>
          <a:prstGeom prst="rect">
            <a:avLst/>
          </a:prstGeom>
        </p:spPr>
      </p:pic>
      <p:sp>
        <p:nvSpPr>
          <p:cNvPr id="6" name="Text 3"/>
          <p:cNvSpPr/>
          <p:nvPr/>
        </p:nvSpPr>
        <p:spPr>
          <a:xfrm>
            <a:off x="1015722" y="3021925"/>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User Input</a:t>
            </a:r>
            <a:endParaRPr lang="en-US" sz="1600" dirty="0"/>
          </a:p>
        </p:txBody>
      </p:sp>
      <p:sp>
        <p:nvSpPr>
          <p:cNvPr id="7" name="Text 4"/>
          <p:cNvSpPr/>
          <p:nvPr/>
        </p:nvSpPr>
        <p:spPr>
          <a:xfrm>
            <a:off x="1015722" y="3374350"/>
            <a:ext cx="396228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Movie name entered by user</a:t>
            </a:r>
            <a:endParaRPr lang="en-US" sz="1400" dirty="0"/>
          </a:p>
        </p:txBody>
      </p:sp>
      <p:pic>
        <p:nvPicPr>
          <p:cNvPr id="8" name="Image 1" descr="preencoded.png"/>
          <p:cNvPicPr>
            <a:picLocks noChangeAspect="1"/>
          </p:cNvPicPr>
          <p:nvPr/>
        </p:nvPicPr>
        <p:blipFill>
          <a:blip r:embed="rId4"/>
          <a:stretch>
            <a:fillRect/>
          </a:stretch>
        </p:blipFill>
        <p:spPr>
          <a:xfrm>
            <a:off x="5156002" y="2158484"/>
            <a:ext cx="4318278" cy="712113"/>
          </a:xfrm>
          <a:prstGeom prst="rect">
            <a:avLst/>
          </a:prstGeom>
        </p:spPr>
      </p:pic>
      <p:sp>
        <p:nvSpPr>
          <p:cNvPr id="9" name="Text 5"/>
          <p:cNvSpPr/>
          <p:nvPr/>
        </p:nvSpPr>
        <p:spPr>
          <a:xfrm>
            <a:off x="5334000" y="3021925"/>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System Processing</a:t>
            </a:r>
            <a:endParaRPr lang="en-US" sz="1600" dirty="0"/>
          </a:p>
        </p:txBody>
      </p:sp>
      <p:sp>
        <p:nvSpPr>
          <p:cNvPr id="10" name="Text 6"/>
          <p:cNvSpPr/>
          <p:nvPr/>
        </p:nvSpPr>
        <p:spPr>
          <a:xfrm>
            <a:off x="5334000" y="3374350"/>
            <a:ext cx="396228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Similarity calculation and ranking</a:t>
            </a:r>
            <a:endParaRPr lang="en-US" sz="1400" dirty="0"/>
          </a:p>
        </p:txBody>
      </p:sp>
      <p:pic>
        <p:nvPicPr>
          <p:cNvPr id="11" name="Image 2" descr="preencoded.png"/>
          <p:cNvPicPr>
            <a:picLocks noChangeAspect="1"/>
          </p:cNvPicPr>
          <p:nvPr/>
        </p:nvPicPr>
        <p:blipFill>
          <a:blip r:embed="rId5"/>
          <a:stretch>
            <a:fillRect/>
          </a:stretch>
        </p:blipFill>
        <p:spPr>
          <a:xfrm>
            <a:off x="9474279" y="2158484"/>
            <a:ext cx="4318278" cy="712113"/>
          </a:xfrm>
          <a:prstGeom prst="rect">
            <a:avLst/>
          </a:prstGeom>
        </p:spPr>
      </p:pic>
      <p:sp>
        <p:nvSpPr>
          <p:cNvPr id="12" name="Text 7"/>
          <p:cNvSpPr/>
          <p:nvPr/>
        </p:nvSpPr>
        <p:spPr>
          <a:xfrm>
            <a:off x="9652278" y="3021925"/>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Recommendations</a:t>
            </a:r>
            <a:endParaRPr lang="en-US" sz="1600" dirty="0"/>
          </a:p>
        </p:txBody>
      </p:sp>
      <p:sp>
        <p:nvSpPr>
          <p:cNvPr id="13" name="Text 8"/>
          <p:cNvSpPr/>
          <p:nvPr/>
        </p:nvSpPr>
        <p:spPr>
          <a:xfrm>
            <a:off x="9652278" y="3374350"/>
            <a:ext cx="3962281" cy="263366"/>
          </a:xfrm>
          <a:prstGeom prst="rect">
            <a:avLst/>
          </a:prstGeom>
          <a:noFill/>
          <a:ln/>
        </p:spPr>
        <p:txBody>
          <a:bodyPr wrap="none" lIns="0" tIns="0" rIns="0" bIns="0" rtlCol="0" anchor="t"/>
          <a:lstStyle/>
          <a:p>
            <a:pPr marL="0" indent="0" algn="l">
              <a:lnSpc>
                <a:spcPts val="2050"/>
              </a:lnSpc>
              <a:buNone/>
            </a:pPr>
            <a:r>
              <a:rPr lang="en-US" sz="1400" dirty="0">
                <a:solidFill>
                  <a:srgbClr val="00002E"/>
                </a:solidFill>
                <a:latin typeface="PT Sans" pitchFamily="34" charset="0"/>
                <a:ea typeface="PT Sans" pitchFamily="34" charset="-122"/>
                <a:cs typeface="PT Sans" pitchFamily="34" charset="-120"/>
              </a:rPr>
              <a:t>Top 5 similar movies displayed</a:t>
            </a:r>
            <a:endParaRPr lang="en-US" sz="1400" dirty="0"/>
          </a:p>
        </p:txBody>
      </p:sp>
      <p:sp>
        <p:nvSpPr>
          <p:cNvPr id="14" name="Text 9"/>
          <p:cNvSpPr/>
          <p:nvPr/>
        </p:nvSpPr>
        <p:spPr>
          <a:xfrm>
            <a:off x="837724" y="4042648"/>
            <a:ext cx="2094548" cy="261699"/>
          </a:xfrm>
          <a:prstGeom prst="rect">
            <a:avLst/>
          </a:prstGeom>
          <a:noFill/>
          <a:ln/>
        </p:spPr>
        <p:txBody>
          <a:bodyPr wrap="none" lIns="0" tIns="0" rIns="0" bIns="0" rtlCol="0" anchor="t"/>
          <a:lstStyle/>
          <a:p>
            <a:pPr marL="0" indent="0" algn="l">
              <a:lnSpc>
                <a:spcPts val="2050"/>
              </a:lnSpc>
              <a:buNone/>
            </a:pPr>
            <a:r>
              <a:rPr lang="en-US" sz="1600" dirty="0">
                <a:solidFill>
                  <a:srgbClr val="00002E"/>
                </a:solidFill>
                <a:latin typeface="Nunito Semi Bold" pitchFamily="34" charset="0"/>
                <a:ea typeface="Nunito Semi Bold" pitchFamily="34" charset="-122"/>
                <a:cs typeface="Nunito Semi Bold" pitchFamily="34" charset="-120"/>
              </a:rPr>
              <a:t>Example</a:t>
            </a:r>
            <a:endParaRPr lang="en-US" sz="1600" dirty="0"/>
          </a:p>
        </p:txBody>
      </p:sp>
      <p:sp>
        <p:nvSpPr>
          <p:cNvPr id="15" name="Shape 10"/>
          <p:cNvSpPr/>
          <p:nvPr/>
        </p:nvSpPr>
        <p:spPr>
          <a:xfrm>
            <a:off x="837724" y="4531281"/>
            <a:ext cx="12954952" cy="2664738"/>
          </a:xfrm>
          <a:prstGeom prst="roundRect">
            <a:avLst>
              <a:gd name="adj" fmla="val 10022"/>
            </a:avLst>
          </a:prstGeom>
          <a:solidFill>
            <a:srgbClr val="B7C2FB"/>
          </a:solidFill>
          <a:ln/>
        </p:spPr>
      </p:sp>
      <p:pic>
        <p:nvPicPr>
          <p:cNvPr id="16" name="Image 3" descr="preencoded.png"/>
          <p:cNvPicPr>
            <a:picLocks noChangeAspect="1"/>
          </p:cNvPicPr>
          <p:nvPr/>
        </p:nvPicPr>
        <p:blipFill>
          <a:blip r:embed="rId6"/>
          <a:stretch>
            <a:fillRect/>
          </a:stretch>
        </p:blipFill>
        <p:spPr>
          <a:xfrm>
            <a:off x="1015722" y="4795957"/>
            <a:ext cx="222528" cy="177998"/>
          </a:xfrm>
          <a:prstGeom prst="rect">
            <a:avLst/>
          </a:prstGeom>
        </p:spPr>
      </p:pic>
      <p:sp>
        <p:nvSpPr>
          <p:cNvPr id="17" name="Text 11"/>
          <p:cNvSpPr/>
          <p:nvPr/>
        </p:nvSpPr>
        <p:spPr>
          <a:xfrm>
            <a:off x="1416248" y="4727019"/>
            <a:ext cx="12198429" cy="263366"/>
          </a:xfrm>
          <a:prstGeom prst="rect">
            <a:avLst/>
          </a:prstGeom>
          <a:noFill/>
          <a:ln/>
        </p:spPr>
        <p:txBody>
          <a:bodyPr wrap="none" lIns="0" tIns="0" rIns="0" bIns="0" rtlCol="0" anchor="t"/>
          <a:lstStyle/>
          <a:p>
            <a:pPr marL="0" indent="0" algn="l">
              <a:lnSpc>
                <a:spcPts val="2050"/>
              </a:lnSpc>
              <a:buNone/>
            </a:pPr>
            <a:r>
              <a:rPr lang="en-US" sz="1400" b="1" dirty="0">
                <a:solidFill>
                  <a:srgbClr val="000000"/>
                </a:solidFill>
                <a:latin typeface="PT Sans" pitchFamily="34" charset="0"/>
                <a:ea typeface="PT Sans" pitchFamily="34" charset="-122"/>
                <a:cs typeface="PT Sans" pitchFamily="34" charset="-120"/>
              </a:rPr>
              <a:t>Input:</a:t>
            </a:r>
            <a:r>
              <a:rPr lang="en-US" sz="1400" dirty="0">
                <a:solidFill>
                  <a:srgbClr val="000000"/>
                </a:solidFill>
                <a:latin typeface="PT Sans" pitchFamily="34" charset="0"/>
                <a:ea typeface="PT Sans" pitchFamily="34" charset="-122"/>
                <a:cs typeface="PT Sans" pitchFamily="34" charset="-120"/>
              </a:rPr>
              <a:t> Avengers</a:t>
            </a:r>
            <a:endParaRPr lang="en-US" sz="1400" dirty="0"/>
          </a:p>
        </p:txBody>
      </p:sp>
      <p:sp>
        <p:nvSpPr>
          <p:cNvPr id="18" name="Text 12"/>
          <p:cNvSpPr/>
          <p:nvPr/>
        </p:nvSpPr>
        <p:spPr>
          <a:xfrm>
            <a:off x="1416248" y="5126474"/>
            <a:ext cx="12198429" cy="263366"/>
          </a:xfrm>
          <a:prstGeom prst="rect">
            <a:avLst/>
          </a:prstGeom>
          <a:noFill/>
          <a:ln/>
        </p:spPr>
        <p:txBody>
          <a:bodyPr wrap="none" lIns="0" tIns="0" rIns="0" bIns="0" rtlCol="0" anchor="t"/>
          <a:lstStyle/>
          <a:p>
            <a:pPr marL="0" indent="0" algn="l">
              <a:lnSpc>
                <a:spcPts val="2050"/>
              </a:lnSpc>
              <a:buNone/>
            </a:pPr>
            <a:r>
              <a:rPr lang="en-US" sz="1400" b="1" dirty="0">
                <a:solidFill>
                  <a:srgbClr val="000000"/>
                </a:solidFill>
                <a:latin typeface="PT Sans" pitchFamily="34" charset="0"/>
                <a:ea typeface="PT Sans" pitchFamily="34" charset="-122"/>
                <a:cs typeface="PT Sans" pitchFamily="34" charset="-120"/>
              </a:rPr>
              <a:t>Output:</a:t>
            </a:r>
            <a:endParaRPr lang="en-US" sz="1400" dirty="0"/>
          </a:p>
        </p:txBody>
      </p:sp>
      <p:sp>
        <p:nvSpPr>
          <p:cNvPr id="19" name="Text 13"/>
          <p:cNvSpPr/>
          <p:nvPr/>
        </p:nvSpPr>
        <p:spPr>
          <a:xfrm>
            <a:off x="1416248" y="5525929"/>
            <a:ext cx="12198429" cy="1528286"/>
          </a:xfrm>
          <a:prstGeom prst="rect">
            <a:avLst/>
          </a:prstGeom>
          <a:noFill/>
          <a:ln/>
        </p:spPr>
        <p:txBody>
          <a:bodyPr wrap="square" lIns="0" tIns="0" rIns="0" bIns="0" rtlCol="0" anchor="t"/>
          <a:lstStyle/>
          <a:p>
            <a:pPr marL="342900" indent="-342900" algn="l">
              <a:lnSpc>
                <a:spcPts val="2050"/>
              </a:lnSpc>
              <a:buSzPct val="100000"/>
              <a:buFont typeface="+mj-lt"/>
              <a:buAutoNum type="arabicPeriod"/>
            </a:pPr>
            <a:r>
              <a:rPr lang="en-US" sz="1400" dirty="0">
                <a:solidFill>
                  <a:srgbClr val="000000"/>
                </a:solidFill>
                <a:latin typeface="PT Sans" pitchFamily="34" charset="0"/>
                <a:ea typeface="PT Sans" pitchFamily="34" charset="-122"/>
                <a:cs typeface="PT Sans" pitchFamily="34" charset="-120"/>
              </a:rPr>
              <a:t>Iron Man</a:t>
            </a:r>
            <a:endParaRPr lang="en-US" sz="1400" dirty="0"/>
          </a:p>
          <a:p>
            <a:pPr marL="342900" indent="-342900" algn="l">
              <a:lnSpc>
                <a:spcPts val="2050"/>
              </a:lnSpc>
              <a:buSzPct val="100000"/>
              <a:buFont typeface="+mj-lt"/>
              <a:buAutoNum type="arabicPeriod" startAt="2"/>
            </a:pPr>
            <a:r>
              <a:rPr lang="en-US" sz="1400" dirty="0">
                <a:solidFill>
                  <a:srgbClr val="000000"/>
                </a:solidFill>
                <a:latin typeface="PT Sans" pitchFamily="34" charset="0"/>
                <a:ea typeface="PT Sans" pitchFamily="34" charset="-122"/>
                <a:cs typeface="PT Sans" pitchFamily="34" charset="-120"/>
              </a:rPr>
              <a:t>Captain America</a:t>
            </a:r>
            <a:endParaRPr lang="en-US" sz="1400" dirty="0"/>
          </a:p>
          <a:p>
            <a:pPr marL="342900" indent="-342900" algn="l">
              <a:lnSpc>
                <a:spcPts val="2050"/>
              </a:lnSpc>
              <a:buSzPct val="100000"/>
              <a:buFont typeface="+mj-lt"/>
              <a:buAutoNum type="arabicPeriod" startAt="3"/>
            </a:pPr>
            <a:r>
              <a:rPr lang="en-US" sz="1400" dirty="0">
                <a:solidFill>
                  <a:srgbClr val="000000"/>
                </a:solidFill>
                <a:latin typeface="PT Sans" pitchFamily="34" charset="0"/>
                <a:ea typeface="PT Sans" pitchFamily="34" charset="-122"/>
                <a:cs typeface="PT Sans" pitchFamily="34" charset="-120"/>
              </a:rPr>
              <a:t>Thor</a:t>
            </a:r>
            <a:endParaRPr lang="en-US" sz="1400" dirty="0"/>
          </a:p>
          <a:p>
            <a:pPr marL="342900" indent="-342900" algn="l">
              <a:lnSpc>
                <a:spcPts val="2050"/>
              </a:lnSpc>
              <a:buSzPct val="100000"/>
              <a:buFont typeface="+mj-lt"/>
              <a:buAutoNum type="arabicPeriod" startAt="4"/>
            </a:pPr>
            <a:r>
              <a:rPr lang="en-US" sz="1400" dirty="0">
                <a:solidFill>
                  <a:srgbClr val="000000"/>
                </a:solidFill>
                <a:latin typeface="PT Sans" pitchFamily="34" charset="0"/>
                <a:ea typeface="PT Sans" pitchFamily="34" charset="-122"/>
                <a:cs typeface="PT Sans" pitchFamily="34" charset="-120"/>
              </a:rPr>
              <a:t>Guardians of the Galaxy</a:t>
            </a:r>
            <a:endParaRPr lang="en-US" sz="1400" dirty="0"/>
          </a:p>
          <a:p>
            <a:pPr marL="342900" indent="-342900" algn="l">
              <a:lnSpc>
                <a:spcPts val="2050"/>
              </a:lnSpc>
              <a:buSzPct val="100000"/>
              <a:buFont typeface="+mj-lt"/>
              <a:buAutoNum type="arabicPeriod" startAt="5"/>
            </a:pPr>
            <a:r>
              <a:rPr lang="en-US" sz="1400" dirty="0">
                <a:solidFill>
                  <a:srgbClr val="000000"/>
                </a:solidFill>
                <a:latin typeface="PT Sans" pitchFamily="34" charset="0"/>
                <a:ea typeface="PT Sans" pitchFamily="34" charset="-122"/>
                <a:cs typeface="PT Sans" pitchFamily="34" charset="-120"/>
              </a:rPr>
              <a:t>Doctor Strange</a:t>
            </a:r>
            <a:endParaRPr lang="en-US" sz="1400" dirty="0"/>
          </a:p>
        </p:txBody>
      </p:sp>
      <p:sp>
        <p:nvSpPr>
          <p:cNvPr id="20" name="Text 14"/>
          <p:cNvSpPr/>
          <p:nvPr/>
        </p:nvSpPr>
        <p:spPr>
          <a:xfrm>
            <a:off x="837724" y="7366159"/>
            <a:ext cx="12954952" cy="263366"/>
          </a:xfrm>
          <a:prstGeom prst="rect">
            <a:avLst/>
          </a:prstGeom>
          <a:noFill/>
          <a:ln/>
        </p:spPr>
        <p:txBody>
          <a:bodyPr wrap="none" lIns="0" tIns="0" rIns="0" bIns="0" rtlCol="0" anchor="t"/>
          <a:lstStyle/>
          <a:p>
            <a:pPr marL="0" indent="0" algn="l">
              <a:lnSpc>
                <a:spcPts val="2050"/>
              </a:lnSpc>
              <a:buNone/>
            </a:pPr>
            <a:endParaRPr lang="en-US" sz="1400" dirty="0"/>
          </a:p>
        </p:txBody>
      </p:sp>
      <p:sp>
        <p:nvSpPr>
          <p:cNvPr id="21" name="Watermark">
            <a:extLst>
              <a:ext uri="{FF2B5EF4-FFF2-40B4-BE49-F238E27FC236}">
                <a16:creationId xmlns:a16="http://schemas.microsoft.com/office/drawing/2014/main" id="{203F574A-9AA4-26D0-225D-59DEFFBF0A82}"/>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Google Shape;121;p16">
            <a:extLst>
              <a:ext uri="{FF2B5EF4-FFF2-40B4-BE49-F238E27FC236}">
                <a16:creationId xmlns:a16="http://schemas.microsoft.com/office/drawing/2014/main" id="{920A54A3-5AEC-88EF-4107-59CADF9FDE54}"/>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9</a:t>
            </a:fld>
            <a:endParaRPr sz="1600" b="0" i="0" u="none" strike="noStrike" cap="none" dirty="0">
              <a:solidFill>
                <a:srgbClr val="757575"/>
              </a:solidFill>
              <a:latin typeface="Nunito" pitchFamily="2" charset="0"/>
              <a:ea typeface="Arial"/>
              <a:cs typeface="Arial"/>
              <a:sym typeface="Arial"/>
            </a:endParaRPr>
          </a:p>
        </p:txBody>
      </p:sp>
      <p:grpSp>
        <p:nvGrpSpPr>
          <p:cNvPr id="23" name="Group 22">
            <a:extLst>
              <a:ext uri="{FF2B5EF4-FFF2-40B4-BE49-F238E27FC236}">
                <a16:creationId xmlns:a16="http://schemas.microsoft.com/office/drawing/2014/main" id="{ABCAAAEA-E071-86B0-5C30-276477101F1A}"/>
              </a:ext>
            </a:extLst>
          </p:cNvPr>
          <p:cNvGrpSpPr/>
          <p:nvPr/>
        </p:nvGrpSpPr>
        <p:grpSpPr>
          <a:xfrm>
            <a:off x="11984501" y="198004"/>
            <a:ext cx="2348508" cy="803700"/>
            <a:chOff x="11965987" y="253625"/>
            <a:chExt cx="2348508" cy="803700"/>
          </a:xfrm>
        </p:grpSpPr>
        <p:pic>
          <p:nvPicPr>
            <p:cNvPr id="24" name="Picture 6" descr="Galgotias-University-Logo | EROCON">
              <a:extLst>
                <a:ext uri="{FF2B5EF4-FFF2-40B4-BE49-F238E27FC236}">
                  <a16:creationId xmlns:a16="http://schemas.microsoft.com/office/drawing/2014/main" id="{08EAE0CB-4936-9D8A-245F-5F66382AB3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89B6E8BD-B302-579C-1C86-37060BEE0A28}"/>
                </a:ext>
              </a:extLst>
            </p:cNvPr>
            <p:cNvPicPr>
              <a:picLocks noChangeAspect="1"/>
            </p:cNvPicPr>
            <p:nvPr/>
          </p:nvPicPr>
          <p:blipFill>
            <a:blip r:embed="rId8"/>
            <a:srcRect l="885" t="847" r="1416" b="805"/>
            <a:stretch>
              <a:fillRect/>
            </a:stretch>
          </p:blipFill>
          <p:spPr>
            <a:xfrm>
              <a:off x="13543389" y="253625"/>
              <a:ext cx="771106" cy="803700"/>
            </a:xfrm>
            <a:prstGeom prst="rect">
              <a:avLst/>
            </a:prstGeom>
          </p:spPr>
        </p:pic>
      </p:grpSp>
      <p:sp>
        <p:nvSpPr>
          <p:cNvPr id="26" name="Google Shape;121;p16">
            <a:extLst>
              <a:ext uri="{FF2B5EF4-FFF2-40B4-BE49-F238E27FC236}">
                <a16:creationId xmlns:a16="http://schemas.microsoft.com/office/drawing/2014/main" id="{EE71276B-B16D-B7DE-F179-1E66C957F035}"/>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anim calcmode="lin" valueType="num">
                                      <p:cBhvr>
                                        <p:cTn id="25" dur="500" fill="hold"/>
                                        <p:tgtEl>
                                          <p:spTgt spid="8"/>
                                        </p:tgtEl>
                                        <p:attrNameLst>
                                          <p:attrName>ppt_x</p:attrName>
                                        </p:attrNameLst>
                                      </p:cBhvr>
                                      <p:tavLst>
                                        <p:tav tm="0">
                                          <p:val>
                                            <p:strVal val="#ppt_x"/>
                                          </p:val>
                                        </p:tav>
                                        <p:tav tm="100000">
                                          <p:val>
                                            <p:strVal val="#ppt_x"/>
                                          </p:val>
                                        </p:tav>
                                      </p:tavLst>
                                    </p:anim>
                                    <p:anim calcmode="lin" valueType="num">
                                      <p:cBhvr>
                                        <p:cTn id="26" dur="5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anim calcmode="lin" valueType="num">
                                      <p:cBhvr>
                                        <p:cTn id="30" dur="500" fill="hold"/>
                                        <p:tgtEl>
                                          <p:spTgt spid="9"/>
                                        </p:tgtEl>
                                        <p:attrNameLst>
                                          <p:attrName>ppt_x</p:attrName>
                                        </p:attrNameLst>
                                      </p:cBhvr>
                                      <p:tavLst>
                                        <p:tav tm="0">
                                          <p:val>
                                            <p:strVal val="#ppt_x"/>
                                          </p:val>
                                        </p:tav>
                                        <p:tav tm="100000">
                                          <p:val>
                                            <p:strVal val="#ppt_x"/>
                                          </p:val>
                                        </p:tav>
                                      </p:tavLst>
                                    </p:anim>
                                    <p:anim calcmode="lin" valueType="num">
                                      <p:cBhvr>
                                        <p:cTn id="31" dur="5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p:cTn id="35" dur="500" fill="hold"/>
                                        <p:tgtEl>
                                          <p:spTgt spid="10"/>
                                        </p:tgtEl>
                                        <p:attrNameLst>
                                          <p:attrName>ppt_x</p:attrName>
                                        </p:attrNameLst>
                                      </p:cBhvr>
                                      <p:tavLst>
                                        <p:tav tm="0">
                                          <p:val>
                                            <p:strVal val="#ppt_x"/>
                                          </p:val>
                                        </p:tav>
                                        <p:tav tm="100000">
                                          <p:val>
                                            <p:strVal val="#ppt_x"/>
                                          </p:val>
                                        </p:tav>
                                      </p:tavLst>
                                    </p:anim>
                                    <p:anim calcmode="lin" valueType="num">
                                      <p:cBhvr>
                                        <p:cTn id="3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anim calcmode="lin" valueType="num">
                                      <p:cBhvr>
                                        <p:cTn id="42" dur="500" fill="hold"/>
                                        <p:tgtEl>
                                          <p:spTgt spid="11"/>
                                        </p:tgtEl>
                                        <p:attrNameLst>
                                          <p:attrName>ppt_x</p:attrName>
                                        </p:attrNameLst>
                                      </p:cBhvr>
                                      <p:tavLst>
                                        <p:tav tm="0">
                                          <p:val>
                                            <p:strVal val="#ppt_x"/>
                                          </p:val>
                                        </p:tav>
                                        <p:tav tm="100000">
                                          <p:val>
                                            <p:strVal val="#ppt_x"/>
                                          </p:val>
                                        </p:tav>
                                      </p:tavLst>
                                    </p:anim>
                                    <p:anim calcmode="lin" valueType="num">
                                      <p:cBhvr>
                                        <p:cTn id="43" dur="500" fill="hold"/>
                                        <p:tgtEl>
                                          <p:spTgt spid="1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anim calcmode="lin" valueType="num">
                                      <p:cBhvr>
                                        <p:cTn id="47" dur="500" fill="hold"/>
                                        <p:tgtEl>
                                          <p:spTgt spid="12"/>
                                        </p:tgtEl>
                                        <p:attrNameLst>
                                          <p:attrName>ppt_x</p:attrName>
                                        </p:attrNameLst>
                                      </p:cBhvr>
                                      <p:tavLst>
                                        <p:tav tm="0">
                                          <p:val>
                                            <p:strVal val="#ppt_x"/>
                                          </p:val>
                                        </p:tav>
                                        <p:tav tm="100000">
                                          <p:val>
                                            <p:strVal val="#ppt_x"/>
                                          </p:val>
                                        </p:tav>
                                      </p:tavLst>
                                    </p:anim>
                                    <p:anim calcmode="lin" valueType="num">
                                      <p:cBhvr>
                                        <p:cTn id="48" dur="5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anim calcmode="lin" valueType="num">
                                      <p:cBhvr>
                                        <p:cTn id="52" dur="500" fill="hold"/>
                                        <p:tgtEl>
                                          <p:spTgt spid="13"/>
                                        </p:tgtEl>
                                        <p:attrNameLst>
                                          <p:attrName>ppt_x</p:attrName>
                                        </p:attrNameLst>
                                      </p:cBhvr>
                                      <p:tavLst>
                                        <p:tav tm="0">
                                          <p:val>
                                            <p:strVal val="#ppt_x"/>
                                          </p:val>
                                        </p:tav>
                                        <p:tav tm="100000">
                                          <p:val>
                                            <p:strVal val="#ppt_x"/>
                                          </p:val>
                                        </p:tav>
                                      </p:tavLst>
                                    </p:anim>
                                    <p:anim calcmode="lin" valueType="num">
                                      <p:cBhvr>
                                        <p:cTn id="5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2" presetID="10" presetClass="entr" presetSubtype="0" fill="hold"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5" presetID="10"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4"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2235160"/>
            <a:ext cx="4928354" cy="615910"/>
          </a:xfrm>
          <a:prstGeom prst="rect">
            <a:avLst/>
          </a:prstGeom>
          <a:noFill/>
          <a:ln/>
        </p:spPr>
        <p:txBody>
          <a:bodyPr wrap="none" lIns="0" tIns="0" rIns="0" bIns="0" rtlCol="0" anchor="t"/>
          <a:lstStyle/>
          <a:p>
            <a:pPr marL="0" indent="0" algn="l">
              <a:lnSpc>
                <a:spcPts val="4850"/>
              </a:lnSpc>
              <a:buNone/>
            </a:pPr>
            <a:r>
              <a:rPr lang="en-US" sz="3850" dirty="0">
                <a:solidFill>
                  <a:srgbClr val="00002E"/>
                </a:solidFill>
                <a:latin typeface="Nunito Semi Bold" pitchFamily="34" charset="0"/>
                <a:ea typeface="Nunito Semi Bold" pitchFamily="34" charset="-122"/>
                <a:cs typeface="Nunito Semi Bold" pitchFamily="34" charset="-120"/>
              </a:rPr>
              <a:t>Future Improvements</a:t>
            </a:r>
            <a:endParaRPr lang="en-US" sz="3850" dirty="0"/>
          </a:p>
        </p:txBody>
      </p:sp>
      <p:sp>
        <p:nvSpPr>
          <p:cNvPr id="3" name="Text 1"/>
          <p:cNvSpPr/>
          <p:nvPr/>
        </p:nvSpPr>
        <p:spPr>
          <a:xfrm>
            <a:off x="837724" y="3269933"/>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Potential enhancements to expand system capabilities:</a:t>
            </a:r>
            <a:endParaRPr lang="en-US" sz="1600" dirty="0"/>
          </a:p>
        </p:txBody>
      </p:sp>
      <p:sp>
        <p:nvSpPr>
          <p:cNvPr id="4" name="Shape 2"/>
          <p:cNvSpPr/>
          <p:nvPr/>
        </p:nvSpPr>
        <p:spPr>
          <a:xfrm>
            <a:off x="837724" y="3840599"/>
            <a:ext cx="471249" cy="471249"/>
          </a:xfrm>
          <a:prstGeom prst="roundRect">
            <a:avLst>
              <a:gd name="adj" fmla="val 66671"/>
            </a:avLst>
          </a:prstGeom>
          <a:solidFill>
            <a:srgbClr val="F3F3FF"/>
          </a:solidFill>
          <a:ln w="22860">
            <a:solidFill>
              <a:srgbClr val="2D4DF2"/>
            </a:solidFill>
            <a:prstDash val="solid"/>
          </a:ln>
        </p:spPr>
      </p:sp>
      <p:sp>
        <p:nvSpPr>
          <p:cNvPr id="5" name="Text 3"/>
          <p:cNvSpPr/>
          <p:nvPr/>
        </p:nvSpPr>
        <p:spPr>
          <a:xfrm>
            <a:off x="925532" y="3960889"/>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00002E"/>
                </a:solidFill>
                <a:latin typeface="Nunito Semi Bold" pitchFamily="34" charset="0"/>
                <a:ea typeface="Nunito Semi Bold" pitchFamily="34" charset="-122"/>
                <a:cs typeface="Nunito Semi Bold" pitchFamily="34" charset="-120"/>
              </a:rPr>
              <a:t>1</a:t>
            </a:r>
            <a:endParaRPr lang="en-US" sz="2300" dirty="0"/>
          </a:p>
        </p:txBody>
      </p:sp>
      <p:sp>
        <p:nvSpPr>
          <p:cNvPr id="6" name="Text 4"/>
          <p:cNvSpPr/>
          <p:nvPr/>
        </p:nvSpPr>
        <p:spPr>
          <a:xfrm>
            <a:off x="1518404" y="3912513"/>
            <a:ext cx="3463052" cy="616029"/>
          </a:xfrm>
          <a:prstGeom prst="rect">
            <a:avLst/>
          </a:prstGeom>
          <a:noFill/>
          <a:ln/>
        </p:spPr>
        <p:txBody>
          <a:bodyPr wrap="squar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Personalized Recommendations</a:t>
            </a:r>
            <a:endParaRPr lang="en-US" sz="1900" dirty="0"/>
          </a:p>
        </p:txBody>
      </p:sp>
      <p:sp>
        <p:nvSpPr>
          <p:cNvPr id="7" name="Text 5"/>
          <p:cNvSpPr/>
          <p:nvPr/>
        </p:nvSpPr>
        <p:spPr>
          <a:xfrm>
            <a:off x="1518404" y="4654153"/>
            <a:ext cx="3463052" cy="1005126"/>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Incorporate user ratings and viewing history to provide tailored suggestions based on individual preferences</a:t>
            </a:r>
            <a:endParaRPr lang="en-US" sz="1600" dirty="0"/>
          </a:p>
        </p:txBody>
      </p:sp>
      <p:sp>
        <p:nvSpPr>
          <p:cNvPr id="8" name="Shape 6"/>
          <p:cNvSpPr/>
          <p:nvPr/>
        </p:nvSpPr>
        <p:spPr>
          <a:xfrm>
            <a:off x="5243274" y="3840599"/>
            <a:ext cx="471249" cy="471249"/>
          </a:xfrm>
          <a:prstGeom prst="roundRect">
            <a:avLst>
              <a:gd name="adj" fmla="val 66671"/>
            </a:avLst>
          </a:prstGeom>
          <a:solidFill>
            <a:srgbClr val="F3F3FF"/>
          </a:solidFill>
          <a:ln w="22860">
            <a:solidFill>
              <a:srgbClr val="018CE1"/>
            </a:solidFill>
            <a:prstDash val="solid"/>
          </a:ln>
        </p:spPr>
      </p:sp>
      <p:sp>
        <p:nvSpPr>
          <p:cNvPr id="9" name="Text 7"/>
          <p:cNvSpPr/>
          <p:nvPr/>
        </p:nvSpPr>
        <p:spPr>
          <a:xfrm>
            <a:off x="5331083" y="3960889"/>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00002E"/>
                </a:solidFill>
                <a:latin typeface="Nunito Semi Bold" pitchFamily="34" charset="0"/>
                <a:ea typeface="Nunito Semi Bold" pitchFamily="34" charset="-122"/>
                <a:cs typeface="Nunito Semi Bold" pitchFamily="34" charset="-120"/>
              </a:rPr>
              <a:t>2</a:t>
            </a:r>
            <a:endParaRPr lang="en-US" sz="2300" dirty="0"/>
          </a:p>
        </p:txBody>
      </p:sp>
      <p:sp>
        <p:nvSpPr>
          <p:cNvPr id="10" name="Text 8"/>
          <p:cNvSpPr/>
          <p:nvPr/>
        </p:nvSpPr>
        <p:spPr>
          <a:xfrm>
            <a:off x="5923955" y="3912513"/>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Web Interface</a:t>
            </a:r>
            <a:endParaRPr lang="en-US" sz="1900" dirty="0"/>
          </a:p>
        </p:txBody>
      </p:sp>
      <p:sp>
        <p:nvSpPr>
          <p:cNvPr id="11" name="Text 9"/>
          <p:cNvSpPr/>
          <p:nvPr/>
        </p:nvSpPr>
        <p:spPr>
          <a:xfrm>
            <a:off x="5923955" y="4346138"/>
            <a:ext cx="3463052" cy="1005126"/>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Develop an interactive web application with a user-friendly interface for seamless movie discovery</a:t>
            </a:r>
            <a:endParaRPr lang="en-US" sz="1600" dirty="0"/>
          </a:p>
        </p:txBody>
      </p:sp>
      <p:sp>
        <p:nvSpPr>
          <p:cNvPr id="12" name="Shape 10"/>
          <p:cNvSpPr/>
          <p:nvPr/>
        </p:nvSpPr>
        <p:spPr>
          <a:xfrm>
            <a:off x="9648825" y="3840599"/>
            <a:ext cx="471249" cy="471249"/>
          </a:xfrm>
          <a:prstGeom prst="roundRect">
            <a:avLst>
              <a:gd name="adj" fmla="val 66671"/>
            </a:avLst>
          </a:prstGeom>
          <a:solidFill>
            <a:srgbClr val="F3F3FF"/>
          </a:solidFill>
          <a:ln w="22860">
            <a:solidFill>
              <a:srgbClr val="DA33BF"/>
            </a:solidFill>
            <a:prstDash val="solid"/>
          </a:ln>
        </p:spPr>
      </p:sp>
      <p:sp>
        <p:nvSpPr>
          <p:cNvPr id="13" name="Text 11"/>
          <p:cNvSpPr/>
          <p:nvPr/>
        </p:nvSpPr>
        <p:spPr>
          <a:xfrm>
            <a:off x="9736634" y="3960889"/>
            <a:ext cx="295632" cy="369570"/>
          </a:xfrm>
          <a:prstGeom prst="rect">
            <a:avLst/>
          </a:prstGeom>
          <a:noFill/>
          <a:ln/>
        </p:spPr>
        <p:txBody>
          <a:bodyPr wrap="none" lIns="0" tIns="0" rIns="0" bIns="0" rtlCol="0" anchor="t"/>
          <a:lstStyle/>
          <a:p>
            <a:pPr marL="0" indent="0" algn="ctr">
              <a:lnSpc>
                <a:spcPts val="2300"/>
              </a:lnSpc>
              <a:buNone/>
            </a:pPr>
            <a:r>
              <a:rPr lang="en-US" sz="2300" dirty="0">
                <a:solidFill>
                  <a:srgbClr val="00002E"/>
                </a:solidFill>
                <a:latin typeface="Nunito Semi Bold" pitchFamily="34" charset="0"/>
                <a:ea typeface="Nunito Semi Bold" pitchFamily="34" charset="-122"/>
                <a:cs typeface="Nunito Semi Bold" pitchFamily="34" charset="-120"/>
              </a:rPr>
              <a:t>3</a:t>
            </a:r>
            <a:endParaRPr lang="en-US" sz="2300" dirty="0"/>
          </a:p>
        </p:txBody>
      </p:sp>
      <p:sp>
        <p:nvSpPr>
          <p:cNvPr id="14" name="Text 12"/>
          <p:cNvSpPr/>
          <p:nvPr/>
        </p:nvSpPr>
        <p:spPr>
          <a:xfrm>
            <a:off x="10329505" y="3912513"/>
            <a:ext cx="3463171" cy="616029"/>
          </a:xfrm>
          <a:prstGeom prst="rect">
            <a:avLst/>
          </a:prstGeom>
          <a:noFill/>
          <a:ln/>
        </p:spPr>
        <p:txBody>
          <a:bodyPr wrap="square" lIns="0" tIns="0" rIns="0" bIns="0" rtlCol="0" anchor="t"/>
          <a:lstStyle/>
          <a:p>
            <a:pPr marL="0" indent="0" algn="l">
              <a:lnSpc>
                <a:spcPts val="2400"/>
              </a:lnSpc>
              <a:buNone/>
            </a:pPr>
            <a:r>
              <a:rPr lang="en-US" sz="1900" dirty="0">
                <a:solidFill>
                  <a:srgbClr val="00002E"/>
                </a:solidFill>
                <a:latin typeface="Nunito Semi Bold" pitchFamily="34" charset="0"/>
                <a:ea typeface="Nunito Semi Bold" pitchFamily="34" charset="-122"/>
                <a:cs typeface="Nunito Semi Bold" pitchFamily="34" charset="-120"/>
              </a:rPr>
              <a:t>Streaming Platform Integration</a:t>
            </a:r>
            <a:endParaRPr lang="en-US" sz="1900" dirty="0"/>
          </a:p>
        </p:txBody>
      </p:sp>
      <p:sp>
        <p:nvSpPr>
          <p:cNvPr id="15" name="Text 13"/>
          <p:cNvSpPr/>
          <p:nvPr/>
        </p:nvSpPr>
        <p:spPr>
          <a:xfrm>
            <a:off x="10329505" y="4654153"/>
            <a:ext cx="3463171" cy="1340168"/>
          </a:xfrm>
          <a:prstGeom prst="rect">
            <a:avLst/>
          </a:prstGeom>
          <a:noFill/>
          <a:ln/>
        </p:spPr>
        <p:txBody>
          <a:bodyPr wrap="square" lIns="0" tIns="0" rIns="0" bIns="0" rtlCol="0" anchor="t"/>
          <a:lstStyle/>
          <a:p>
            <a:pPr marL="0" indent="0" algn="l">
              <a:lnSpc>
                <a:spcPts val="2600"/>
              </a:lnSpc>
              <a:buNone/>
            </a:pPr>
            <a:r>
              <a:rPr lang="en-US" sz="1600" dirty="0">
                <a:solidFill>
                  <a:srgbClr val="00002E"/>
                </a:solidFill>
                <a:latin typeface="PT Sans" pitchFamily="34" charset="0"/>
                <a:ea typeface="PT Sans" pitchFamily="34" charset="-122"/>
                <a:cs typeface="PT Sans" pitchFamily="34" charset="-120"/>
              </a:rPr>
              <a:t>Connect with platforms like Netflix or Prime Video to provide real-time recommendations within existing services</a:t>
            </a:r>
            <a:endParaRPr lang="en-US" sz="1600" dirty="0"/>
          </a:p>
        </p:txBody>
      </p:sp>
      <p:sp>
        <p:nvSpPr>
          <p:cNvPr id="19" name="Watermark">
            <a:extLst>
              <a:ext uri="{FF2B5EF4-FFF2-40B4-BE49-F238E27FC236}">
                <a16:creationId xmlns:a16="http://schemas.microsoft.com/office/drawing/2014/main" id="{DB6D2A5D-162E-293C-F229-C9C5BFD6C94C}"/>
              </a:ext>
            </a:extLst>
          </p:cNvPr>
          <p:cNvSpPr/>
          <p:nvPr/>
        </p:nvSpPr>
        <p:spPr>
          <a:xfrm>
            <a:off x="12833873" y="7756264"/>
            <a:ext cx="1796527" cy="473336"/>
          </a:xfrm>
          <a:prstGeom prst="rect">
            <a:avLst/>
          </a:prstGeom>
          <a:solidFill>
            <a:srgbClr val="F3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Google Shape;121;p16">
            <a:extLst>
              <a:ext uri="{FF2B5EF4-FFF2-40B4-BE49-F238E27FC236}">
                <a16:creationId xmlns:a16="http://schemas.microsoft.com/office/drawing/2014/main" id="{0BBE93D2-DCCC-76E0-5862-649077E05719}"/>
              </a:ext>
            </a:extLst>
          </p:cNvPr>
          <p:cNvSpPr txBox="1"/>
          <p:nvPr/>
        </p:nvSpPr>
        <p:spPr>
          <a:xfrm>
            <a:off x="11910349" y="7480932"/>
            <a:ext cx="2253537" cy="55066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1600" b="0" i="0" u="none" strike="noStrike" cap="none">
                <a:solidFill>
                  <a:srgbClr val="757575"/>
                </a:solidFill>
                <a:latin typeface="Nunito" pitchFamily="2" charset="0"/>
                <a:ea typeface="Arial"/>
                <a:cs typeface="Arial"/>
                <a:sym typeface="Arial"/>
              </a:rPr>
              <a:t>10</a:t>
            </a:fld>
            <a:endParaRPr sz="1600" b="0" i="0" u="none" strike="noStrike" cap="none" dirty="0">
              <a:solidFill>
                <a:srgbClr val="757575"/>
              </a:solidFill>
              <a:latin typeface="Nunito" pitchFamily="2" charset="0"/>
              <a:ea typeface="Arial"/>
              <a:cs typeface="Arial"/>
              <a:sym typeface="Arial"/>
            </a:endParaRPr>
          </a:p>
        </p:txBody>
      </p:sp>
      <p:grpSp>
        <p:nvGrpSpPr>
          <p:cNvPr id="21" name="Group 20">
            <a:extLst>
              <a:ext uri="{FF2B5EF4-FFF2-40B4-BE49-F238E27FC236}">
                <a16:creationId xmlns:a16="http://schemas.microsoft.com/office/drawing/2014/main" id="{1F23AFAE-A40D-28FF-65A8-CFF0BA787779}"/>
              </a:ext>
            </a:extLst>
          </p:cNvPr>
          <p:cNvGrpSpPr/>
          <p:nvPr/>
        </p:nvGrpSpPr>
        <p:grpSpPr>
          <a:xfrm>
            <a:off x="11984501" y="198004"/>
            <a:ext cx="2348508" cy="803700"/>
            <a:chOff x="11965987" y="253625"/>
            <a:chExt cx="2348508" cy="803700"/>
          </a:xfrm>
        </p:grpSpPr>
        <p:pic>
          <p:nvPicPr>
            <p:cNvPr id="22" name="Picture 6" descr="Galgotias-University-Logo | EROCON">
              <a:extLst>
                <a:ext uri="{FF2B5EF4-FFF2-40B4-BE49-F238E27FC236}">
                  <a16:creationId xmlns:a16="http://schemas.microsoft.com/office/drawing/2014/main" id="{E9CD1841-02F3-C47E-83F1-98B105BF5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987" y="253625"/>
              <a:ext cx="1382445" cy="8037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F017EB5F-1985-4F92-FA78-6BCB6264A8A6}"/>
                </a:ext>
              </a:extLst>
            </p:cNvPr>
            <p:cNvPicPr>
              <a:picLocks noChangeAspect="1"/>
            </p:cNvPicPr>
            <p:nvPr/>
          </p:nvPicPr>
          <p:blipFill>
            <a:blip r:embed="rId4"/>
            <a:srcRect l="885" t="847" r="1416" b="805"/>
            <a:stretch>
              <a:fillRect/>
            </a:stretch>
          </p:blipFill>
          <p:spPr>
            <a:xfrm>
              <a:off x="13543389" y="253625"/>
              <a:ext cx="771106" cy="803700"/>
            </a:xfrm>
            <a:prstGeom prst="rect">
              <a:avLst/>
            </a:prstGeom>
          </p:spPr>
        </p:pic>
      </p:grpSp>
      <p:sp>
        <p:nvSpPr>
          <p:cNvPr id="24" name="Google Shape;121;p16">
            <a:extLst>
              <a:ext uri="{FF2B5EF4-FFF2-40B4-BE49-F238E27FC236}">
                <a16:creationId xmlns:a16="http://schemas.microsoft.com/office/drawing/2014/main" id="{25EEDE7B-D785-73AE-DE83-E312CDFA5A27}"/>
              </a:ext>
            </a:extLst>
          </p:cNvPr>
          <p:cNvSpPr txBox="1"/>
          <p:nvPr/>
        </p:nvSpPr>
        <p:spPr>
          <a:xfrm>
            <a:off x="6188432" y="7678936"/>
            <a:ext cx="2253537" cy="55066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400" b="0" i="0" u="none" strike="noStrike" cap="none" dirty="0">
                <a:solidFill>
                  <a:srgbClr val="757575"/>
                </a:solidFill>
                <a:latin typeface="Nunito" pitchFamily="2" charset="0"/>
                <a:ea typeface="Arial"/>
                <a:cs typeface="Arial"/>
                <a:sym typeface="Arial"/>
              </a:rPr>
              <a:t>Vansh Goel &amp; Shiva Tyagi</a:t>
            </a:r>
            <a:endParaRPr sz="1400" b="0" i="0" u="none" strike="noStrike" cap="none" dirty="0">
              <a:solidFill>
                <a:srgbClr val="757575"/>
              </a:solidFill>
              <a:latin typeface="Nunito" pitchFamily="2" charset="0"/>
              <a:ea typeface="Arial"/>
              <a:cs typeface="Arial"/>
              <a:sym typeface="Arial"/>
            </a:endParaRPr>
          </a:p>
        </p:txBody>
      </p:sp>
    </p:spTree>
  </p:cSld>
  <p:clrMapOvr>
    <a:masterClrMapping/>
  </p:clrMapOvr>
  <p:transition>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1054</Words>
  <Application>Microsoft Office PowerPoint</Application>
  <PresentationFormat>Custom</PresentationFormat>
  <Paragraphs>160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Nunito Bold</vt:lpstr>
      <vt:lpstr>Nunito Semi Bold</vt:lpstr>
      <vt:lpstr>Nunito</vt:lpstr>
      <vt:lpstr>PT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Vansh Goel</cp:lastModifiedBy>
  <cp:revision>18</cp:revision>
  <dcterms:created xsi:type="dcterms:W3CDTF">2026-03-12T16:06:27Z</dcterms:created>
  <dcterms:modified xsi:type="dcterms:W3CDTF">2026-03-13T04:05:52Z</dcterms:modified>
</cp:coreProperties>
</file>