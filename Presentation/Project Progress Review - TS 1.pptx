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Nunito" pitchFamily="2" charset="0"/>
      <p:regular r:id="rId19"/>
      <p:bold r:id="rId20"/>
      <p:italic r:id="rId21"/>
      <p:boldItalic r:id="rId22"/>
    </p:embeddedFont>
    <p:embeddedFont>
      <p:font typeface="Nunito Semi Bold" panose="020B0604020202020204" charset="0"/>
      <p:regular r:id="rId23"/>
    </p:embeddedFont>
    <p:embeddedFont>
      <p:font typeface="PT Sans" panose="020B050302020302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87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34F-D1EA-52EA-287E-8330E3B8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FF207-0268-AB51-FF1E-52E0B81B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041FA-BA09-82B1-643D-E1A524AD0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6E1EC-A50D-D782-F159-B55827595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7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3A49-D23D-11C8-44B2-0E15C40B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CE2B9-AD8B-103D-B2C4-D15506EFD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D4D2F-09E0-B149-9061-F3BED03E2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0C7A5-9F7A-CA94-C698-D4ACA8F01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79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047845"/>
            <a:ext cx="1816298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1107004"/>
            <a:ext cx="160823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DESIGN REVIEW - TS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417385"/>
            <a:ext cx="804200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Hybrid Movie Recommendation System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2081754"/>
            <a:ext cx="8096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18CE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Bridging the Gap Between Global Blockbusters and Regional Cinema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3577" y="2526750"/>
            <a:ext cx="8096845" cy="11162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3577" y="2878133"/>
            <a:ext cx="471212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scalable, big-data recommendation engine merging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32 Million global ratings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with deep NLP metadata to solve industry-standard recommendation flaws.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3576" y="3764553"/>
            <a:ext cx="1966487" cy="281136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21" y="3845293"/>
            <a:ext cx="119658" cy="1196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2807" y="3809425"/>
            <a:ext cx="67009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VANSH GOEL – 24SCSE1720002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5109" y="4099833"/>
            <a:ext cx="1942762" cy="281136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52" y="4180573"/>
            <a:ext cx="119658" cy="1196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339" y="4144705"/>
            <a:ext cx="63341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SHIVA TYAGI – 24SCSE1500002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97711" y="2743518"/>
            <a:ext cx="3235077" cy="1844427"/>
          </a:xfrm>
          <a:prstGeom prst="roundRect">
            <a:avLst>
              <a:gd name="adj" fmla="val 19468"/>
            </a:avLst>
          </a:prstGeom>
          <a:solidFill>
            <a:srgbClr val="2D4DF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752793" y="297046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We Built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647283" y="3262630"/>
            <a:ext cx="2935932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32M+ ratings processed at scale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Hollywood + Bollywood unified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Hybrid ML inference engine</a:t>
            </a:r>
            <a:endParaRPr lang="en-US" sz="1150" dirty="0"/>
          </a:p>
        </p:txBody>
      </p:sp>
      <p:sp>
        <p:nvSpPr>
          <p:cNvPr id="18" name="Watermark">
            <a:extLst>
              <a:ext uri="{FF2B5EF4-FFF2-40B4-BE49-F238E27FC236}">
                <a16:creationId xmlns:a16="http://schemas.microsoft.com/office/drawing/2014/main" id="{5EA85365-758C-5B3B-1A4F-B443E7E3E887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D13197-8805-90E1-4469-5284BA330619}"/>
              </a:ext>
            </a:extLst>
          </p:cNvPr>
          <p:cNvGrpSpPr/>
          <p:nvPr/>
        </p:nvGrpSpPr>
        <p:grpSpPr>
          <a:xfrm>
            <a:off x="270407" y="185779"/>
            <a:ext cx="8572652" cy="555324"/>
            <a:chOff x="270406" y="243389"/>
            <a:chExt cx="13893480" cy="900000"/>
          </a:xfrm>
        </p:grpSpPr>
        <p:pic>
          <p:nvPicPr>
            <p:cNvPr id="20" name="Picture 6" descr="Galgotias-University-Logo | EROCON">
              <a:extLst>
                <a:ext uri="{FF2B5EF4-FFF2-40B4-BE49-F238E27FC236}">
                  <a16:creationId xmlns:a16="http://schemas.microsoft.com/office/drawing/2014/main" id="{5F4819AC-7408-06C7-1D65-C112D306B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406" y="243389"/>
              <a:ext cx="1548091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94A6E6-9DB9-3148-964F-40C33E605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85" t="847" r="1416" b="805"/>
            <a:stretch>
              <a:fillRect/>
            </a:stretch>
          </p:blipFill>
          <p:spPr>
            <a:xfrm>
              <a:off x="13300386" y="243389"/>
              <a:ext cx="863500" cy="900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99343"/>
            <a:ext cx="1365424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758503"/>
            <a:ext cx="115736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068884"/>
            <a:ext cx="446067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Core Challenges Addressed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73325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Traditional recommendation systems suffer from three fundamental flaws that limit their real-world effectiveness and regional inclusivity.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3577" y="2380283"/>
            <a:ext cx="2599209" cy="2063874"/>
          </a:xfrm>
          <a:prstGeom prst="roundRect">
            <a:avLst>
              <a:gd name="adj" fmla="val 443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4527" y="2380283"/>
            <a:ext cx="76200" cy="2063874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350" y="2548905"/>
            <a:ext cx="22048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❄️</a:t>
            </a: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The "Cold Start" Dilemma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350" y="3078584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Traditional Collaborative Filtering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fails for new releases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with zero user ratings — leaving fresh content invisible to audiences who would love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2358" y="2380283"/>
            <a:ext cx="2599209" cy="2063874"/>
          </a:xfrm>
          <a:prstGeom prst="roundRect">
            <a:avLst>
              <a:gd name="adj" fmla="val 443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53308" y="2380283"/>
            <a:ext cx="76200" cy="2063874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98131" y="254890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🌐</a:t>
            </a: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Domain Isolation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98131" y="2858616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Existing systems are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constrained to single datasets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ignoring regional cinema like Bollywood — an industry producing thousands of films annually.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139" y="2380283"/>
            <a:ext cx="2599283" cy="2063874"/>
          </a:xfrm>
          <a:prstGeom prst="roundRect">
            <a:avLst>
              <a:gd name="adj" fmla="val 443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02089" y="2380283"/>
            <a:ext cx="76200" cy="2063874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6912" y="2548905"/>
            <a:ext cx="20603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⚡</a:t>
            </a: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Scalability Constraints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46912" y="2858616"/>
            <a:ext cx="220488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Computing an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89,000 × 89,000 similarity matrix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locally exceeds standard memory bounds — making naive approaches computationally infeasible.</a:t>
            </a:r>
            <a:endParaRPr lang="en-US" sz="1150" dirty="0"/>
          </a:p>
        </p:txBody>
      </p:sp>
      <p:sp>
        <p:nvSpPr>
          <p:cNvPr id="19" name="Watermark">
            <a:extLst>
              <a:ext uri="{FF2B5EF4-FFF2-40B4-BE49-F238E27FC236}">
                <a16:creationId xmlns:a16="http://schemas.microsoft.com/office/drawing/2014/main" id="{0FE64CBE-BA90-4CBE-E5B0-C46083E86FD7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Google Shape;121;p16">
            <a:extLst>
              <a:ext uri="{FF2B5EF4-FFF2-40B4-BE49-F238E27FC236}">
                <a16:creationId xmlns:a16="http://schemas.microsoft.com/office/drawing/2014/main" id="{D27A241D-4E11-9849-CCD9-A4F320EB35EF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2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6529CBB3-FF97-81F8-9DE7-B4AD9FD78E23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E974BE-0E85-5BFA-4C8E-599385EB5390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5" name="Picture 6" descr="Galgotias-University-Logo | EROCON">
              <a:extLst>
                <a:ext uri="{FF2B5EF4-FFF2-40B4-BE49-F238E27FC236}">
                  <a16:creationId xmlns:a16="http://schemas.microsoft.com/office/drawing/2014/main" id="{736E9346-6213-70B6-375D-B632BA3C24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0FF6E1E-5CBF-B465-6B91-AD079688D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41647"/>
            <a:ext cx="1218679" cy="281657"/>
          </a:xfrm>
          <a:prstGeom prst="roundRect">
            <a:avLst>
              <a:gd name="adj" fmla="val 60556"/>
            </a:avLst>
          </a:prstGeom>
          <a:noFill/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18381" y="493812"/>
            <a:ext cx="1029072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777255"/>
            <a:ext cx="6679332" cy="4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and Methodology: The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3577" y="1549598"/>
            <a:ext cx="2081064" cy="1765176"/>
          </a:xfrm>
          <a:prstGeom prst="roundRect">
            <a:avLst>
              <a:gd name="adj" fmla="val 12078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79996" y="1706017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🎬</a:t>
            </a: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MovieLens 32M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9996" y="2049959"/>
            <a:ext cx="1768227" cy="11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</a:t>
            </a:r>
            <a:r>
              <a:rPr lang="en-US" sz="11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behavioral foundation</a:t>
            </a: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supplying 32 million user ratings — the largest publicly available movie rating dataset.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39628" y="1549598"/>
            <a:ext cx="2081138" cy="1765176"/>
          </a:xfrm>
          <a:prstGeom prst="roundRect">
            <a:avLst>
              <a:gd name="adj" fmla="val 12078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96046" y="1706017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🗄️</a:t>
            </a: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TMDB &amp; IMDb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96046" y="2049959"/>
            <a:ext cx="1768301" cy="11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</a:t>
            </a:r>
            <a:r>
              <a:rPr lang="en-US" sz="11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metadata backbone</a:t>
            </a: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genres, plots, and cast — non-commercial APIs providing rich textual content for NLP processing.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3577" y="3449762"/>
            <a:ext cx="4297189" cy="1100138"/>
          </a:xfrm>
          <a:prstGeom prst="roundRect">
            <a:avLst>
              <a:gd name="adj" fmla="val 19379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79996" y="3606180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Bollywood 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9996" y="3950122"/>
            <a:ext cx="3984352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Over </a:t>
            </a:r>
            <a:r>
              <a:rPr lang="en-US" sz="11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1,600 regional movies</a:t>
            </a: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injected to expand the recommendation space beyond Hollywood.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9979" y="1397719"/>
            <a:ext cx="3657451" cy="3304059"/>
          </a:xfrm>
          <a:prstGeom prst="roundRect">
            <a:avLst>
              <a:gd name="adj" fmla="val 10324"/>
            </a:avLst>
          </a:prstGeom>
          <a:solidFill>
            <a:srgbClr val="2D4DF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12110" y="1647006"/>
            <a:ext cx="169239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Golden Bridge</a:t>
            </a:r>
            <a:endParaRPr lang="en-US" sz="1300" b="1" dirty="0"/>
          </a:p>
        </p:txBody>
      </p:sp>
      <p:sp>
        <p:nvSpPr>
          <p:cNvPr id="16" name="Text 14"/>
          <p:cNvSpPr/>
          <p:nvPr/>
        </p:nvSpPr>
        <p:spPr>
          <a:xfrm>
            <a:off x="5212110" y="1975708"/>
            <a:ext cx="3373189" cy="665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Utilized the MovieLens </a:t>
            </a:r>
            <a:r>
              <a:rPr lang="en-US" sz="1100" dirty="0">
                <a:solidFill>
                  <a:srgbClr val="FFFFFF"/>
                </a:solidFill>
                <a:highlight>
                  <a:srgbClr val="3A5A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links.csv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file to perform </a:t>
            </a: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horizontal DataFrame merges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generating synthetic IDs to append regional datasets vertically.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110" y="2762265"/>
            <a:ext cx="3373189" cy="665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bridge is what makes cross-domain recommendations possible — unifying Hollywood and Bollywood into a single coherent index.</a:t>
            </a:r>
            <a:endParaRPr lang="en-US" sz="1100" dirty="0"/>
          </a:p>
        </p:txBody>
      </p:sp>
      <p:sp>
        <p:nvSpPr>
          <p:cNvPr id="19" name="Watermark">
            <a:extLst>
              <a:ext uri="{FF2B5EF4-FFF2-40B4-BE49-F238E27FC236}">
                <a16:creationId xmlns:a16="http://schemas.microsoft.com/office/drawing/2014/main" id="{967F2166-DEA1-B197-5011-D8CD683A1DB6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B9FFA6A7-F2E8-8A6C-37C8-5AEDFD3B39AE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3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1;p16">
            <a:extLst>
              <a:ext uri="{FF2B5EF4-FFF2-40B4-BE49-F238E27FC236}">
                <a16:creationId xmlns:a16="http://schemas.microsoft.com/office/drawing/2014/main" id="{90451625-66EA-49E4-8F8E-9BEBA61A79D9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A87BC2-C124-AFB1-0B7A-FCB8E773588E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3" name="Picture 6" descr="Galgotias-University-Logo | EROCON">
              <a:extLst>
                <a:ext uri="{FF2B5EF4-FFF2-40B4-BE49-F238E27FC236}">
                  <a16:creationId xmlns:a16="http://schemas.microsoft.com/office/drawing/2014/main" id="{ADB1D077-01CA-8913-1F96-18311E4D1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E1F753-7CB7-B2E0-B4CC-1326F4AC4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84436"/>
            <a:ext cx="1480765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543595"/>
            <a:ext cx="127270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TRANSFORMATION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53976"/>
            <a:ext cx="756895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and Methodology: Feature Engineering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518345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Transforming raw data into meaningful features is crucial for empowering our recommendation engine with contextual understanding and robust performance.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3577" y="2389733"/>
            <a:ext cx="2599209" cy="2269257"/>
          </a:xfrm>
          <a:prstGeom prst="roundRect">
            <a:avLst>
              <a:gd name="adj" fmla="val 4030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3577" y="2370683"/>
            <a:ext cx="2599209" cy="7620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98749" y="2165375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3364" y="2299990"/>
            <a:ext cx="179487" cy="1794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2200" y="2763738"/>
            <a:ext cx="22619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 Synthesis: Unified "Tags" Corpus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2200" y="3293418"/>
            <a:ext cx="22619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Combined movie 'overview', 'genres', 'cast', and 'director' fields into a single "Tags" corpus for enhanced contextual similarity in NLP processing.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72358" y="2389733"/>
            <a:ext cx="2599209" cy="2269257"/>
          </a:xfrm>
          <a:prstGeom prst="roundRect">
            <a:avLst>
              <a:gd name="adj" fmla="val 4030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72358" y="2370683"/>
            <a:ext cx="2599209" cy="7620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347530" y="2165375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145" y="2299990"/>
            <a:ext cx="179487" cy="1794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0981" y="2763738"/>
            <a:ext cx="19038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NLP Text Normalization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440981" y="3073450"/>
            <a:ext cx="2261964" cy="1206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Applied regular expressions to strip noise and utilized the </a:t>
            </a:r>
            <a:r>
              <a:rPr lang="en-US" sz="11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NLTK Porter Stemmer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reduce vocabulary to core root forms for consistent feature processing.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21139" y="2389733"/>
            <a:ext cx="2599283" cy="2269257"/>
          </a:xfrm>
          <a:prstGeom prst="roundRect">
            <a:avLst>
              <a:gd name="adj" fmla="val 4030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021139" y="2370683"/>
            <a:ext cx="2599283" cy="7620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096385" y="2165375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000" y="2299990"/>
            <a:ext cx="179487" cy="17948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89762" y="2763738"/>
            <a:ext cx="198380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Handling Missing Values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189762" y="3073450"/>
            <a:ext cx="2262039" cy="1206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Bypassed </a:t>
            </a:r>
            <a:r>
              <a:rPr lang="en-US" sz="11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(Not a Number) ratings from regional datasets by imputing a median </a:t>
            </a:r>
            <a:r>
              <a:rPr lang="en-US" sz="11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backend score, preventing matrix math failures during inference.</a:t>
            </a:r>
            <a:endParaRPr lang="en-US" sz="1150" dirty="0"/>
          </a:p>
        </p:txBody>
      </p:sp>
      <p:sp>
        <p:nvSpPr>
          <p:cNvPr id="24" name="Watermark">
            <a:extLst>
              <a:ext uri="{FF2B5EF4-FFF2-40B4-BE49-F238E27FC236}">
                <a16:creationId xmlns:a16="http://schemas.microsoft.com/office/drawing/2014/main" id="{E4B56FA8-DCA3-1913-25B1-B5E049CFD527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9B81DF93-0C10-12E2-F352-9C1A6642711C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4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1A332248-8468-A42B-9091-61831823DD99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F71CC7-6946-B71A-1BDA-8015176B4743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8" name="Picture 6" descr="Galgotias-University-Logo | EROCON">
              <a:extLst>
                <a:ext uri="{FF2B5EF4-FFF2-40B4-BE49-F238E27FC236}">
                  <a16:creationId xmlns:a16="http://schemas.microsoft.com/office/drawing/2014/main" id="{E6A14FC6-D457-65B2-D94B-F276C3702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D0A4C78-8130-9CB7-B437-557D1C1E4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13383"/>
            <a:ext cx="604689" cy="195783"/>
          </a:xfrm>
          <a:prstGeom prst="roundRect">
            <a:avLst>
              <a:gd name="adj" fmla="val 64191"/>
            </a:avLst>
          </a:prstGeom>
          <a:noFill/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5908" y="554310"/>
            <a:ext cx="460028" cy="1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ML PIPELINE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738485"/>
            <a:ext cx="4363045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and Methodology: ML Pipeline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089" y="1156320"/>
            <a:ext cx="5667747" cy="22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19790" y="1930683"/>
            <a:ext cx="1127486" cy="144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Big Data Processing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619790" y="2118598"/>
            <a:ext cx="1127486" cy="20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PySpark + ALS matrix factorization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021520" y="2221205"/>
            <a:ext cx="1127485" cy="144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Content NLP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21520" y="2409119"/>
            <a:ext cx="1127485" cy="20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TF‑IDF 5,000‑feature sparse matrix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439613" y="1930683"/>
            <a:ext cx="1127485" cy="144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Hybrid Inference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39613" y="2118598"/>
            <a:ext cx="1127485" cy="20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Cosine similarity fused with IMDb ratings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3577" y="3474690"/>
            <a:ext cx="2650034" cy="1155353"/>
          </a:xfrm>
          <a:prstGeom prst="roundRect">
            <a:avLst>
              <a:gd name="adj" fmla="val 13597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37865" y="3488978"/>
            <a:ext cx="2621459" cy="314176"/>
          </a:xfrm>
          <a:prstGeom prst="roundRect">
            <a:avLst>
              <a:gd name="adj" fmla="val 44545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0013" y="3543151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2565" y="3876452"/>
            <a:ext cx="1232074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Big Data Processing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2565" y="4074468"/>
            <a:ext cx="2412057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Utilized </a:t>
            </a:r>
            <a:r>
              <a:rPr lang="en-US" sz="8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PySpark</a:t>
            </a: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an </a:t>
            </a:r>
            <a:r>
              <a:rPr lang="en-US" sz="8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Alternating Least Squares (ALS)</a:t>
            </a: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Matrix Factorization algorithm to predict user ratings at massive scale.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46909" y="3474690"/>
            <a:ext cx="2650108" cy="1155353"/>
          </a:xfrm>
          <a:prstGeom prst="roundRect">
            <a:avLst>
              <a:gd name="adj" fmla="val 13597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261196" y="3488978"/>
            <a:ext cx="2621533" cy="314176"/>
          </a:xfrm>
          <a:prstGeom prst="roundRect">
            <a:avLst>
              <a:gd name="adj" fmla="val 44545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493419" y="3543151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65897" y="3876452"/>
            <a:ext cx="1232074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Content-Based NLP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65897" y="4074468"/>
            <a:ext cx="2412132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Deployed </a:t>
            </a:r>
            <a:r>
              <a:rPr lang="en-US" sz="8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NLTK Porter Stemmer</a:t>
            </a: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r>
              <a:rPr lang="en-US" sz="8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TF-IDF Vectorization</a:t>
            </a: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transform text (genres, cast, plot) into a 5,000-feature sparse matrix.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970315" y="3474690"/>
            <a:ext cx="2650108" cy="1155353"/>
          </a:xfrm>
          <a:prstGeom prst="roundRect">
            <a:avLst>
              <a:gd name="adj" fmla="val 13597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984602" y="3488978"/>
            <a:ext cx="2621533" cy="314176"/>
          </a:xfrm>
          <a:prstGeom prst="roundRect">
            <a:avLst>
              <a:gd name="adj" fmla="val 44545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216825" y="3543151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89303" y="3876452"/>
            <a:ext cx="1422574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Hybrid Inference Formula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303" y="4074468"/>
            <a:ext cx="2412132" cy="4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(Cosine Similarity × 0.8) + (Normalized IMDb Rating × 0.2)</a:t>
            </a: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weighting content relevance heavily while anchoring to quality signals.</a:t>
            </a:r>
            <a:endParaRPr lang="en-US" sz="800" dirty="0"/>
          </a:p>
        </p:txBody>
      </p:sp>
      <p:sp>
        <p:nvSpPr>
          <p:cNvPr id="27" name="Watermark">
            <a:extLst>
              <a:ext uri="{FF2B5EF4-FFF2-40B4-BE49-F238E27FC236}">
                <a16:creationId xmlns:a16="http://schemas.microsoft.com/office/drawing/2014/main" id="{85F88D42-0868-6646-9E71-B57A0C803FCA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Google Shape;121;p16">
            <a:extLst>
              <a:ext uri="{FF2B5EF4-FFF2-40B4-BE49-F238E27FC236}">
                <a16:creationId xmlns:a16="http://schemas.microsoft.com/office/drawing/2014/main" id="{EAF57CAC-EADE-FED8-BAC8-9142E8BACFB8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5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21;p16">
            <a:extLst>
              <a:ext uri="{FF2B5EF4-FFF2-40B4-BE49-F238E27FC236}">
                <a16:creationId xmlns:a16="http://schemas.microsoft.com/office/drawing/2014/main" id="{782ECE9E-0092-DC57-1CDB-496E3A758845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C70396-CB8A-9578-6F1D-22A507E4E6B4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31" name="Picture 6" descr="Galgotias-University-Logo | EROCON">
              <a:extLst>
                <a:ext uri="{FF2B5EF4-FFF2-40B4-BE49-F238E27FC236}">
                  <a16:creationId xmlns:a16="http://schemas.microsoft.com/office/drawing/2014/main" id="{8CBB1BE0-F036-90D5-8F58-D05CFCFE77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A451D79-140A-1A3B-4BBF-D9B78BC50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27149"/>
            <a:ext cx="1450032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586308"/>
            <a:ext cx="124197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96689"/>
            <a:ext cx="636664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Work Done So Far: System Architecture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729308"/>
            <a:ext cx="374005" cy="3740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4585" y="1729308"/>
            <a:ext cx="18916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Decoupled Architecture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84585" y="2098849"/>
            <a:ext cx="33049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Separated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PySpark batch-processing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from the web inference engine to prevent Java Virtual Machine memory overhead — enabling lightweight, fast web responses.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355628"/>
            <a:ext cx="374005" cy="3740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4585" y="3355628"/>
            <a:ext cx="19745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On-the-Fly Mathematics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84585" y="3725168"/>
            <a:ext cx="3304952" cy="72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Loads optimized </a:t>
            </a:r>
            <a:r>
              <a:rPr lang="en-US" sz="11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.npz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sparse matrices and calculates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cosine similarity on-demand in milliseconds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no pre-computation bottleneck.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59226" y="1729308"/>
            <a:ext cx="3865959" cy="2119759"/>
          </a:xfrm>
          <a:prstGeom prst="roundRect">
            <a:avLst>
              <a:gd name="adj" fmla="val 1058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798" y="1928887"/>
            <a:ext cx="219968" cy="1759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78338" y="191623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🖥️ Web Interface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278338" y="2285777"/>
            <a:ext cx="319727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a fully functional, responsive </a:t>
            </a:r>
            <a:r>
              <a:rPr lang="en-US" sz="11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Streamlit application</a:t>
            </a: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featuring: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278338" y="2899172"/>
            <a:ext cx="3197275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Cinema design aesthetic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Dynamic outbound IMDb routing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recommendation rendering</a:t>
            </a:r>
            <a:endParaRPr lang="en-US" sz="1150" dirty="0"/>
          </a:p>
        </p:txBody>
      </p:sp>
      <p:sp>
        <p:nvSpPr>
          <p:cNvPr id="16" name="Watermark">
            <a:extLst>
              <a:ext uri="{FF2B5EF4-FFF2-40B4-BE49-F238E27FC236}">
                <a16:creationId xmlns:a16="http://schemas.microsoft.com/office/drawing/2014/main" id="{3C461E31-B345-EA6E-4C28-1716D3CA4153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Google Shape;121;p16">
            <a:extLst>
              <a:ext uri="{FF2B5EF4-FFF2-40B4-BE49-F238E27FC236}">
                <a16:creationId xmlns:a16="http://schemas.microsoft.com/office/drawing/2014/main" id="{6E1A7F14-DB7B-9A1E-6874-D95F323A812C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6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21;p16">
            <a:extLst>
              <a:ext uri="{FF2B5EF4-FFF2-40B4-BE49-F238E27FC236}">
                <a16:creationId xmlns:a16="http://schemas.microsoft.com/office/drawing/2014/main" id="{44B30B78-707E-F384-8C41-5F1ED5E2DA4E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EDEBF-0EC3-EDF9-BB02-64FE008F7BBB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0" name="Picture 6" descr="Galgotias-University-Logo | EROCON">
              <a:extLst>
                <a:ext uri="{FF2B5EF4-FFF2-40B4-BE49-F238E27FC236}">
                  <a16:creationId xmlns:a16="http://schemas.microsoft.com/office/drawing/2014/main" id="{5D666644-7BBC-D319-3597-7ECF0461E1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661210D-C6D1-7E8E-5382-FE13C08A7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29158"/>
            <a:ext cx="889546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588318"/>
            <a:ext cx="68148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RESILIENT UI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98699"/>
            <a:ext cx="647394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Work Done So Far: The Zero-API Engine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563067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Engineering around real-world infrastructure constraints required creative, production-grade solutions at every layer of the stack.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210098"/>
            <a:ext cx="2698924" cy="5984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3150" y="2958108"/>
            <a:ext cx="188141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Zero-API Poster Engine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3150" y="3267819"/>
            <a:ext cx="23997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Bypassed restrictive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ISP API blocking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by engineering a custom poster-fetching pipeline — no external API keys required.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501" y="2210098"/>
            <a:ext cx="2698924" cy="5984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2073" y="295810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Metahub Integration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72073" y="3267819"/>
            <a:ext cx="239977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Formatted and injected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IMDb IDs directly into HTML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utilize the Stremio Metahub Community CDN for secure, browser-side image fetching.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425" y="2210098"/>
            <a:ext cx="2698924" cy="5984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0997" y="295810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Graceful Degradation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70997" y="3267819"/>
            <a:ext cx="2399779" cy="962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Implemented inline JavaScript </a:t>
            </a:r>
            <a:r>
              <a:rPr lang="en-US" sz="11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onerror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attributes to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hot-swap broken images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with locally encoded Base64 SVG placeholders instantly.</a:t>
            </a:r>
            <a:endParaRPr lang="en-US" sz="1150" dirty="0"/>
          </a:p>
        </p:txBody>
      </p:sp>
      <p:sp>
        <p:nvSpPr>
          <p:cNvPr id="15" name="Watermark">
            <a:extLst>
              <a:ext uri="{FF2B5EF4-FFF2-40B4-BE49-F238E27FC236}">
                <a16:creationId xmlns:a16="http://schemas.microsoft.com/office/drawing/2014/main" id="{33B17A8F-CEA7-BDE7-D23A-F49F4A0DA016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Google Shape;121;p16">
            <a:extLst>
              <a:ext uri="{FF2B5EF4-FFF2-40B4-BE49-F238E27FC236}">
                <a16:creationId xmlns:a16="http://schemas.microsoft.com/office/drawing/2014/main" id="{44CD44F5-273B-7D8F-4376-DB4F0270F39C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7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21;p16">
            <a:extLst>
              <a:ext uri="{FF2B5EF4-FFF2-40B4-BE49-F238E27FC236}">
                <a16:creationId xmlns:a16="http://schemas.microsoft.com/office/drawing/2014/main" id="{B3E93599-F9C3-C7DD-148F-B71873BBCE53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8C030B-13B0-233D-1D82-C7F126810AF7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19" name="Picture 6" descr="Galgotias-University-Logo | EROCON">
              <a:extLst>
                <a:ext uri="{FF2B5EF4-FFF2-40B4-BE49-F238E27FC236}">
                  <a16:creationId xmlns:a16="http://schemas.microsoft.com/office/drawing/2014/main" id="{040FF453-2BF6-08AC-B592-50EB02E2B1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F5D2799-C962-46C2-C227-0BD7E4C3D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7555"/>
            <a:ext cx="557659" cy="245790"/>
          </a:xfrm>
          <a:prstGeom prst="roundRect">
            <a:avLst>
              <a:gd name="adj" fmla="val 62088"/>
            </a:avLst>
          </a:prstGeom>
          <a:noFill/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377" y="485180"/>
            <a:ext cx="386060" cy="1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726579"/>
            <a:ext cx="5699075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Preliminary Results &amp; Model Performance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22127" y="1326207"/>
            <a:ext cx="3383682" cy="41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~0.8102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765920" y="1890415"/>
            <a:ext cx="149609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RMSE Score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3577" y="2142232"/>
            <a:ext cx="3980855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Highly competitive Root Mean Squared Error on the Collaborative Filtering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8043" y="1326207"/>
            <a:ext cx="3383756" cy="41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1,600+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81911" y="1890415"/>
            <a:ext cx="149609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Bollywood Films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39494" y="2142232"/>
            <a:ext cx="3980929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Regional movies successfully normalized and integrated into the unified scoring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577" y="2640211"/>
            <a:ext cx="8096845" cy="972071"/>
          </a:xfrm>
          <a:prstGeom prst="roundRect">
            <a:avLst>
              <a:gd name="adj" fmla="val 1962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77" y="2792016"/>
            <a:ext cx="187003" cy="1495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4778" y="2780035"/>
            <a:ext cx="233756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 Cold Start Problem: Eliminated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4778" y="3075087"/>
            <a:ext cx="7528545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system can now accurately recommend movies with </a:t>
            </a: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zero user ratings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purely based on TF-IDF textual metadata matching — a core breakthrough of this project.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3577" y="3733874"/>
            <a:ext cx="8096845" cy="972071"/>
          </a:xfrm>
          <a:prstGeom prst="roundRect">
            <a:avLst>
              <a:gd name="adj" fmla="val 1962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77" y="3885679"/>
            <a:ext cx="187003" cy="1495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4778" y="3873698"/>
            <a:ext cx="2199680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⚖️ Cross-Domain Normalization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64778" y="4168750"/>
            <a:ext cx="7528545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Successfully </a:t>
            </a: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standardized and normalized ratings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across both Hollywood and Bollywood datasets, ensuring fair scoring visibility regardless of origin.</a:t>
            </a:r>
            <a:endParaRPr lang="en-US" sz="1000" dirty="0"/>
          </a:p>
        </p:txBody>
      </p:sp>
      <p:sp>
        <p:nvSpPr>
          <p:cNvPr id="19" name="Watermark">
            <a:extLst>
              <a:ext uri="{FF2B5EF4-FFF2-40B4-BE49-F238E27FC236}">
                <a16:creationId xmlns:a16="http://schemas.microsoft.com/office/drawing/2014/main" id="{EFDA10F1-564D-1778-460C-552AFE9D02E3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1EC3325C-1FA4-8C10-EF05-0E06552ED688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8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1;p16">
            <a:extLst>
              <a:ext uri="{FF2B5EF4-FFF2-40B4-BE49-F238E27FC236}">
                <a16:creationId xmlns:a16="http://schemas.microsoft.com/office/drawing/2014/main" id="{3497C35E-8462-1BCD-8B01-5EAA9D631C29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E33FD0-3748-68A7-DC76-DF0DB879CB38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3" name="Picture 6" descr="Galgotias-University-Logo | EROCON">
              <a:extLst>
                <a:ext uri="{FF2B5EF4-FFF2-40B4-BE49-F238E27FC236}">
                  <a16:creationId xmlns:a16="http://schemas.microsoft.com/office/drawing/2014/main" id="{2FE39869-7707-BD3F-AA2B-E76005E55C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A7C8B4D-B31B-944F-E577-8FC0499DE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4D68-285F-88C1-FED4-FBDD096D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2C0740-7AA5-07CB-252D-0195AE260129}"/>
              </a:ext>
            </a:extLst>
          </p:cNvPr>
          <p:cNvSpPr/>
          <p:nvPr/>
        </p:nvSpPr>
        <p:spPr>
          <a:xfrm>
            <a:off x="523577" y="437555"/>
            <a:ext cx="557659" cy="245790"/>
          </a:xfrm>
          <a:prstGeom prst="roundRect">
            <a:avLst>
              <a:gd name="adj" fmla="val 62088"/>
            </a:avLst>
          </a:prstGeom>
          <a:noFill/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1AD16F-433A-1922-FA3A-93C1432261EB}"/>
              </a:ext>
            </a:extLst>
          </p:cNvPr>
          <p:cNvSpPr/>
          <p:nvPr/>
        </p:nvSpPr>
        <p:spPr>
          <a:xfrm>
            <a:off x="609377" y="485180"/>
            <a:ext cx="386060" cy="1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F76DD1-7974-A249-E407-5840DA3F866A}"/>
              </a:ext>
            </a:extLst>
          </p:cNvPr>
          <p:cNvSpPr/>
          <p:nvPr/>
        </p:nvSpPr>
        <p:spPr>
          <a:xfrm>
            <a:off x="523577" y="726579"/>
            <a:ext cx="5699075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Preliminary Results – Visualization</a:t>
            </a:r>
            <a:endParaRPr lang="en-US" sz="2350" dirty="0"/>
          </a:p>
        </p:txBody>
      </p:sp>
      <p:sp>
        <p:nvSpPr>
          <p:cNvPr id="19" name="Watermark">
            <a:extLst>
              <a:ext uri="{FF2B5EF4-FFF2-40B4-BE49-F238E27FC236}">
                <a16:creationId xmlns:a16="http://schemas.microsoft.com/office/drawing/2014/main" id="{DCD92134-D5F4-580E-C415-0AC343163B7A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ED82D82E-C356-0532-737D-3B4D014E5516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9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1;p16">
            <a:extLst>
              <a:ext uri="{FF2B5EF4-FFF2-40B4-BE49-F238E27FC236}">
                <a16:creationId xmlns:a16="http://schemas.microsoft.com/office/drawing/2014/main" id="{576A59F0-CD28-5B5B-3D22-C58904AD745E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5B0863-2B29-BE29-1692-2E924D62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77" y="1437502"/>
            <a:ext cx="8079780" cy="297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BB43AD4-0EBF-C75F-8821-2212382A2DEF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5" name="Picture 6" descr="Galgotias-University-Logo | EROCON">
              <a:extLst>
                <a:ext uri="{FF2B5EF4-FFF2-40B4-BE49-F238E27FC236}">
                  <a16:creationId xmlns:a16="http://schemas.microsoft.com/office/drawing/2014/main" id="{56E677ED-7582-B3D4-8768-E42ACD14F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8BFE28F-8D2F-49AC-1FE1-B388B1F7A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0187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BD98-1591-FB9E-7814-61F096D8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7D6366-54F8-4FC0-3153-3DD6218EAF2D}"/>
              </a:ext>
            </a:extLst>
          </p:cNvPr>
          <p:cNvSpPr/>
          <p:nvPr/>
        </p:nvSpPr>
        <p:spPr>
          <a:xfrm>
            <a:off x="523577" y="437555"/>
            <a:ext cx="557659" cy="245790"/>
          </a:xfrm>
          <a:prstGeom prst="roundRect">
            <a:avLst>
              <a:gd name="adj" fmla="val 62088"/>
            </a:avLst>
          </a:prstGeom>
          <a:noFill/>
          <a:ln w="9525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EBB2A1-E375-E183-784D-2BCEB7CA7E82}"/>
              </a:ext>
            </a:extLst>
          </p:cNvPr>
          <p:cNvSpPr/>
          <p:nvPr/>
        </p:nvSpPr>
        <p:spPr>
          <a:xfrm>
            <a:off x="609377" y="485180"/>
            <a:ext cx="386060" cy="1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782AF1-35BE-12A5-BA67-7A65D668B376}"/>
              </a:ext>
            </a:extLst>
          </p:cNvPr>
          <p:cNvSpPr/>
          <p:nvPr/>
        </p:nvSpPr>
        <p:spPr>
          <a:xfrm>
            <a:off x="523577" y="726579"/>
            <a:ext cx="5699075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Preliminary Results – </a:t>
            </a:r>
            <a:r>
              <a:rPr lang="en-US" sz="2350" dirty="0" err="1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Steamlit</a:t>
            </a:r>
            <a:r>
              <a:rPr lang="en-US" sz="2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UI</a:t>
            </a:r>
            <a:endParaRPr lang="en-US" sz="2350" dirty="0"/>
          </a:p>
        </p:txBody>
      </p:sp>
      <p:sp>
        <p:nvSpPr>
          <p:cNvPr id="19" name="Watermark">
            <a:extLst>
              <a:ext uri="{FF2B5EF4-FFF2-40B4-BE49-F238E27FC236}">
                <a16:creationId xmlns:a16="http://schemas.microsoft.com/office/drawing/2014/main" id="{053342BC-3AE9-76EA-0CA6-35707E80818C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02194A14-F23A-E147-D6A2-212BC8FF92C7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10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1;p16">
            <a:extLst>
              <a:ext uri="{FF2B5EF4-FFF2-40B4-BE49-F238E27FC236}">
                <a16:creationId xmlns:a16="http://schemas.microsoft.com/office/drawing/2014/main" id="{0DEC4481-DC58-5490-D132-7A9331063C62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4B1D7A-5E29-6BE2-5C4E-4C61FD647783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6" name="Picture 6" descr="Galgotias-University-Logo | EROCON">
              <a:extLst>
                <a:ext uri="{FF2B5EF4-FFF2-40B4-BE49-F238E27FC236}">
                  <a16:creationId xmlns:a16="http://schemas.microsoft.com/office/drawing/2014/main" id="{8F942C3C-8257-0110-52AA-7CEA665658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C2EE74-2D1C-8A5F-85AA-FACF106F4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  <p:pic>
        <p:nvPicPr>
          <p:cNvPr id="8" name="20260515-0403-04.4596345">
            <a:hlinkClick r:id="" action="ppaction://media"/>
            <a:extLst>
              <a:ext uri="{FF2B5EF4-FFF2-40B4-BE49-F238E27FC236}">
                <a16:creationId xmlns:a16="http://schemas.microsoft.com/office/drawing/2014/main" id="{4A3E0876-0FBE-74BB-D677-0CCBA00EB1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74628" y="1209681"/>
            <a:ext cx="6794744" cy="358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7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4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94258"/>
            <a:ext cx="1649388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553417"/>
            <a:ext cx="144132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ENGINEERING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63798"/>
            <a:ext cx="533846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Technical Challenges &amp; Solutions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23577" y="1528167"/>
            <a:ext cx="8096845" cy="3121075"/>
          </a:xfrm>
          <a:prstGeom prst="roundRect">
            <a:avLst>
              <a:gd name="adj" fmla="val 7190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7865" y="1542455"/>
            <a:ext cx="2689399" cy="3092500"/>
          </a:xfrm>
          <a:prstGeom prst="roundRect">
            <a:avLst>
              <a:gd name="adj" fmla="val 8345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7437" y="16920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Matrix Memory Limits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7437" y="2001738"/>
            <a:ext cx="216582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Challenge: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Pre-computing a 40GB dense similarity matrix was infeasible on standard hardware.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7437" y="2809652"/>
            <a:ext cx="216582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Utilized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SciPy sparse matrices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real-time inference — computing only what's needed, when it's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263" y="1542455"/>
            <a:ext cx="2689399" cy="3092500"/>
          </a:xfrm>
          <a:prstGeom prst="rect">
            <a:avLst/>
          </a:prstGeom>
          <a:solidFill>
            <a:srgbClr val="F3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27263" y="1542455"/>
            <a:ext cx="19050" cy="3092500"/>
          </a:xfrm>
          <a:prstGeom prst="roundRect">
            <a:avLst>
              <a:gd name="adj" fmla="val 1178055"/>
            </a:avLst>
          </a:prstGeom>
          <a:solidFill>
            <a:srgbClr val="1A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01269" y="16920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Duplication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01269" y="2001738"/>
            <a:ext cx="19413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Challenge: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Horizontal and vertical dataset merges introduced duplicate entries with conflicting metadata.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01269" y="3049042"/>
            <a:ext cx="1941388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Handled dynamically during index generation by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dropping duplicates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retaining the highest-quality metadata versions.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40261" y="2901702"/>
            <a:ext cx="374005" cy="374005"/>
          </a:xfrm>
          <a:prstGeom prst="roundRect">
            <a:avLst>
              <a:gd name="adj" fmla="val 60004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1AA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3725" y="2995166"/>
            <a:ext cx="187003" cy="187003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916662" y="1542455"/>
            <a:ext cx="2689473" cy="3092500"/>
          </a:xfrm>
          <a:prstGeom prst="rect">
            <a:avLst/>
          </a:prstGeom>
          <a:solidFill>
            <a:srgbClr val="F3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916662" y="1542455"/>
            <a:ext cx="19050" cy="3092500"/>
          </a:xfrm>
          <a:prstGeom prst="roundRect">
            <a:avLst>
              <a:gd name="adj" fmla="val 1178055"/>
            </a:avLst>
          </a:prstGeom>
          <a:solidFill>
            <a:srgbClr val="F34C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90667" y="1692027"/>
            <a:ext cx="202622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Missing Regional Ratings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90667" y="2001738"/>
            <a:ext cx="216589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Challenge: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Bollywood films lacked standardized user ratings, breaking the scoring formula.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90667" y="2809652"/>
            <a:ext cx="216589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Backend defaults to a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median 5.0 score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math integrity; UI dynamically renders "Unrated" for full transparency.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729660" y="2901702"/>
            <a:ext cx="374005" cy="374005"/>
          </a:xfrm>
          <a:prstGeom prst="roundRect">
            <a:avLst>
              <a:gd name="adj" fmla="val 60004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F34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3124" y="2995166"/>
            <a:ext cx="187003" cy="187003"/>
          </a:xfrm>
          <a:prstGeom prst="rect">
            <a:avLst/>
          </a:prstGeom>
        </p:spPr>
      </p:pic>
      <p:sp>
        <p:nvSpPr>
          <p:cNvPr id="24" name="Watermark">
            <a:extLst>
              <a:ext uri="{FF2B5EF4-FFF2-40B4-BE49-F238E27FC236}">
                <a16:creationId xmlns:a16="http://schemas.microsoft.com/office/drawing/2014/main" id="{31CBC572-B55C-EB99-7896-67EEB0009B3A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81D71B98-C62E-16A6-5BED-2BCE99703A2A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11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68EAEE82-04AF-1B99-74EA-A646C9123D73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3A5971-3A6A-D7AC-D166-9BC2A41CDFE2}"/>
              </a:ext>
            </a:extLst>
          </p:cNvPr>
          <p:cNvGrpSpPr/>
          <p:nvPr/>
        </p:nvGrpSpPr>
        <p:grpSpPr>
          <a:xfrm>
            <a:off x="7490313" y="116132"/>
            <a:ext cx="1467818" cy="502313"/>
            <a:chOff x="11965987" y="253625"/>
            <a:chExt cx="2348508" cy="803700"/>
          </a:xfrm>
        </p:grpSpPr>
        <p:pic>
          <p:nvPicPr>
            <p:cNvPr id="28" name="Picture 6" descr="Galgotias-University-Logo | EROCON">
              <a:extLst>
                <a:ext uri="{FF2B5EF4-FFF2-40B4-BE49-F238E27FC236}">
                  <a16:creationId xmlns:a16="http://schemas.microsoft.com/office/drawing/2014/main" id="{9A14A4EE-876D-F591-1D98-1A7192785E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6076AB1-F634-636B-B7FE-93AB3D483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67395"/>
            <a:ext cx="732681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27608" y="526554"/>
            <a:ext cx="52461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36935"/>
            <a:ext cx="505130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Next Steps &amp; Long-Term Vision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501304"/>
            <a:ext cx="8096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Outlining the critical milestones for project completion and strategic future development.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3577" y="1946300"/>
            <a:ext cx="8096845" cy="11162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3577" y="2387426"/>
            <a:ext cx="2599209" cy="2288679"/>
          </a:xfrm>
          <a:prstGeom prst="roundRect">
            <a:avLst>
              <a:gd name="adj" fmla="val 3995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3577" y="2368376"/>
            <a:ext cx="2599209" cy="7620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98749" y="2163068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3364" y="2297683"/>
            <a:ext cx="179487" cy="1794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2200" y="276143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Refine Streamlit UI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2200" y="3071143"/>
            <a:ext cx="22619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Polish the user interface to ensure a seamless, intuitive, and production-ready experience for end-users, focusing on responsiveness and visual appeal.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72358" y="2387426"/>
            <a:ext cx="2599209" cy="2288679"/>
          </a:xfrm>
          <a:prstGeom prst="roundRect">
            <a:avLst>
              <a:gd name="adj" fmla="val 3995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272358" y="2368376"/>
            <a:ext cx="2599209" cy="7620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347530" y="2163068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145" y="2297683"/>
            <a:ext cx="179487" cy="1794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40981" y="2761431"/>
            <a:ext cx="22619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Integrate Bollywood Ratings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440981" y="3291111"/>
            <a:ext cx="22619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Incorporate a supplementary dataset of Bollywood film ratings to enrich the model, specifically to replace missing values and enhance regional scoring accuracy.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21139" y="2387426"/>
            <a:ext cx="2599283" cy="2288679"/>
          </a:xfrm>
          <a:prstGeom prst="roundRect">
            <a:avLst>
              <a:gd name="adj" fmla="val 3995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021139" y="2368376"/>
            <a:ext cx="2599283" cy="7620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7096385" y="2163068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000" y="2297683"/>
            <a:ext cx="179487" cy="1794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89762" y="276143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Long-Term Vision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189762" y="3071143"/>
            <a:ext cx="2262039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Post-submission plans include transitioning to advanced Neural Collaborative Filtering (Deep Learning) models and achieving full cloud deployment on platforms like AWS or Heroku.</a:t>
            </a:r>
            <a:endParaRPr lang="en-US" sz="1150" dirty="0"/>
          </a:p>
        </p:txBody>
      </p:sp>
      <p:sp>
        <p:nvSpPr>
          <p:cNvPr id="25" name="Watermark">
            <a:extLst>
              <a:ext uri="{FF2B5EF4-FFF2-40B4-BE49-F238E27FC236}">
                <a16:creationId xmlns:a16="http://schemas.microsoft.com/office/drawing/2014/main" id="{5823715A-DFB3-6AAF-B84D-2FAA5D305DCA}"/>
              </a:ext>
            </a:extLst>
          </p:cNvPr>
          <p:cNvSpPr/>
          <p:nvPr/>
        </p:nvSpPr>
        <p:spPr>
          <a:xfrm>
            <a:off x="8035988" y="4853255"/>
            <a:ext cx="1108011" cy="29024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F1F14DB6-D7BF-6B8C-2815-5F1651E1FBED}"/>
              </a:ext>
            </a:extLst>
          </p:cNvPr>
          <p:cNvSpPr txBox="1"/>
          <p:nvPr/>
        </p:nvSpPr>
        <p:spPr>
          <a:xfrm>
            <a:off x="7443968" y="4675583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r">
              <a:buClr>
                <a:srgbClr val="000000"/>
              </a:buClr>
              <a:buSzPts val="900"/>
            </a:pPr>
            <a:fld id="{00000000-1234-1234-1234-123412341234}" type="slidenum">
              <a:rPr lang="en" sz="100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900"/>
              </a:pPr>
              <a:t>12</a:t>
            </a:fld>
            <a:endParaRPr sz="1000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21;p16">
            <a:extLst>
              <a:ext uri="{FF2B5EF4-FFF2-40B4-BE49-F238E27FC236}">
                <a16:creationId xmlns:a16="http://schemas.microsoft.com/office/drawing/2014/main" id="{D014FED8-5408-37D8-3382-739A9EB4BADA}"/>
              </a:ext>
            </a:extLst>
          </p:cNvPr>
          <p:cNvSpPr txBox="1"/>
          <p:nvPr/>
        </p:nvSpPr>
        <p:spPr>
          <a:xfrm>
            <a:off x="3867770" y="4799335"/>
            <a:ext cx="1408461" cy="3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59" tIns="21422" rIns="42859" bIns="21422" anchor="ctr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" sz="875" dirty="0">
                <a:solidFill>
                  <a:srgbClr val="757575"/>
                </a:solidFill>
                <a:latin typeface="Nunito" pitchFamily="2" charset="0"/>
                <a:ea typeface="Arial"/>
                <a:cs typeface="Arial"/>
                <a:sym typeface="Arial"/>
              </a:rPr>
              <a:t>Vansh Goel &amp; Shiva Tyagi</a:t>
            </a:r>
            <a:endParaRPr sz="875" dirty="0">
              <a:solidFill>
                <a:srgbClr val="757575"/>
              </a:solidFill>
              <a:latin typeface="Nunito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E1B45C-6E05-175F-E561-93AC78B6B4CE}"/>
              </a:ext>
            </a:extLst>
          </p:cNvPr>
          <p:cNvGrpSpPr/>
          <p:nvPr/>
        </p:nvGrpSpPr>
        <p:grpSpPr>
          <a:xfrm>
            <a:off x="7490313" y="123752"/>
            <a:ext cx="1467818" cy="502313"/>
            <a:chOff x="11965987" y="253625"/>
            <a:chExt cx="2348508" cy="803700"/>
          </a:xfrm>
        </p:grpSpPr>
        <p:pic>
          <p:nvPicPr>
            <p:cNvPr id="29" name="Picture 6" descr="Galgotias-University-Logo | EROCON">
              <a:extLst>
                <a:ext uri="{FF2B5EF4-FFF2-40B4-BE49-F238E27FC236}">
                  <a16:creationId xmlns:a16="http://schemas.microsoft.com/office/drawing/2014/main" id="{080BC27C-7713-7397-5AC3-24A58167FB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987" y="253625"/>
              <a:ext cx="1382445" cy="80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3C80E65-7BE9-E563-8175-F6083DBC0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85" t="847" r="1416" b="805"/>
            <a:stretch>
              <a:fillRect/>
            </a:stretch>
          </p:blipFill>
          <p:spPr>
            <a:xfrm>
              <a:off x="13543389" y="253625"/>
              <a:ext cx="771106" cy="803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1074</Words>
  <Application>Microsoft Office PowerPoint</Application>
  <PresentationFormat>On-screen Show (16:9)</PresentationFormat>
  <Paragraphs>146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PT Sans</vt:lpstr>
      <vt:lpstr>Consolas</vt:lpstr>
      <vt:lpstr>Nunito Semi Bold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Vansh Goel</cp:lastModifiedBy>
  <cp:revision>9</cp:revision>
  <dcterms:created xsi:type="dcterms:W3CDTF">2026-05-07T12:42:13Z</dcterms:created>
  <dcterms:modified xsi:type="dcterms:W3CDTF">2026-05-15T04:04:24Z</dcterms:modified>
</cp:coreProperties>
</file>